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48" r:id="rId4"/>
  </p:sldMasterIdLst>
  <p:notesMasterIdLst>
    <p:notesMasterId r:id="rId5"/>
  </p:notesMasterIdLst>
  <p:sldIdLst>
    <p:sldId id="256" r:id="rId6"/>
    <p:sldId id="257" r:id="rId7"/>
    <p:sldId id="258" r:id="rId8"/>
    <p:sldId id="259" r:id="rId9"/>
    <p:sldId id="260" r:id="rId19"/>
    <p:sldId id="261" r:id="rId20"/>
    <p:sldId id="262" r:id="rId21"/>
    <p:sldId id="263" r:id="rId22"/>
    <p:sldId id="264" r:id="rId23"/>
  </p:sldIdLst>
  <p:sldSz cy="5143500" cx="9144000"/>
  <p:notesSz cx="6858000" cy="9144000"/>
  <p:embeddedFontLst>
    <p:embeddedFont>
      <p:font typeface="Roboto"/>
      <p:regular r:id="rId10"/>
      <p:bold r:id="rId11"/>
      <p:italic r:id="rId12"/>
      <p:boldItalic r:id="rId13"/>
    </p:embeddedFont>
    <p:embeddedFont>
      <p:font typeface="Roboto Medium"/>
      <p:regular r:id="rId14"/>
      <p:bold r:id="rId15"/>
      <p:italic r:id="rId16"/>
      <p:boldItalic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8" roundtripDataSignature="AMtx7mjpBOD1wnFu5Ox5hv3wUcSwmDxwU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font" Target="fonts/Roboto-regular.fntdata"/><Relationship Id="rId11" Type="http://schemas.openxmlformats.org/officeDocument/2006/relationships/font" Target="fonts/Roboto-bold.fntdata"/><Relationship Id="rId12" Type="http://schemas.openxmlformats.org/officeDocument/2006/relationships/font" Target="fonts/Roboto-italic.fntdata"/><Relationship Id="rId13" Type="http://schemas.openxmlformats.org/officeDocument/2006/relationships/font" Target="fonts/Roboto-boldItalic.fntdata"/><Relationship Id="rId14" Type="http://schemas.openxmlformats.org/officeDocument/2006/relationships/font" Target="fonts/RobotoMedium-regular.fntdata"/><Relationship Id="rId15" Type="http://schemas.openxmlformats.org/officeDocument/2006/relationships/font" Target="fonts/RobotoMedium-bold.fntdata"/><Relationship Id="rId16" Type="http://schemas.openxmlformats.org/officeDocument/2006/relationships/font" Target="fonts/RobotoMedium-italic.fntdata"/><Relationship Id="rId17" Type="http://schemas.openxmlformats.org/officeDocument/2006/relationships/font" Target="fonts/RobotoMedium-boldItalic.fntdata"/><Relationship Id="rId18" Type="http://customschemas.google.com/relationships/presentationmetadata" Target="metadata"/><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Hyperion Steward is our Hyperion agent for the HYPER-AI IDE. One sentence: it only tells you something happened once it has seen it happen in your workspace.</a:t>
            </a:r>
          </a:p>
        </p:txBody>
      </p:sp>
      <p:sp>
        <p:nvSpPr>
          <p:cNvPr id="43" name="Google Shape;43;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Repo, image, how to run it. Defaults match the starter: legion1, llama3.1, API_KEY.</a:t>
            </a:r>
          </a:p>
        </p:txBody>
      </p:sp>
      <p:sp>
        <p:nvSpPr>
          <p:cNvPr id="49" name="Google Shape;49;p2: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h2296137532f5af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What it is, what we found, what it does about it. The screenshot is the official IDE, run from the organisers' images in CI, with a browser typing into the Hyperion panel.</a:t>
            </a:r>
          </a:p>
        </p:txBody>
      </p:sp>
      <p:sp>
        <p:nvSpPr>
          <p:cNvPr id="56" name="Google Shape;56;h2296137532f5af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h2296137532f5afa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Four numbers. Zero disagreements with the real validator. Nine out of nine safety scenarios against one out of nine for a naive agent, with identical tool calls. Zero false claims against five. Six of six steps live against the official backend image.</a:t>
            </a:r>
          </a:p>
        </p:txBody>
      </p:sp>
      <p:sp>
        <p:nvSpPr>
          <p:cNvPr id="63" name="Google Shape;63;h2296137532f5afa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ran the organisers' images and read their code. Three facts. One: actions are fire-and-forget. Two: plenty of them silently do nothing, and the tutorial even describes a behaviour the shipped GUI does not have. Three: nothing validates a profile unless someone asks. So a straightforward agent tells users it did things it did not do.</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gate for every change. The two highlighted steps are what we added after reading the IDE: a validator copy proven identical to the real one, and a read-back that turns a fire-and-forget action into a verified one.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Live demo in the official IDE (or this recording from CI).</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official criterion, how Steward meets it, and where it is proven.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What is proven and what is not. Every claim in the repo carries its evidence class.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6.png"/><Relationship Id="rId4" Type="http://schemas.openxmlformats.org/officeDocument/2006/relationships/image" Target="../media/image3.png"/><Relationship Id="rId5" Type="http://schemas.openxmlformats.org/officeDocument/2006/relationships/image" Target="../media/image7.png"/><Relationship Id="rId6"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png"/><Relationship Id="rId7"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3.png"/><Relationship Id="rId4"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6"/>
          <p:cNvPicPr preferRelativeResize="0"/>
          <p:nvPr/>
        </p:nvPicPr>
        <p:blipFill rotWithShape="1">
          <a:blip r:embed="rId2">
            <a:alphaModFix/>
          </a:blip>
          <a:srcRect b="0" l="0" r="0" t="0"/>
          <a:stretch/>
        </p:blipFill>
        <p:spPr>
          <a:xfrm>
            <a:off x="1115" y="0"/>
            <a:ext cx="9155849" cy="5151422"/>
          </a:xfrm>
          <a:prstGeom prst="rect">
            <a:avLst/>
          </a:prstGeom>
          <a:noFill/>
          <a:ln>
            <a:noFill/>
          </a:ln>
        </p:spPr>
      </p:pic>
      <p:sp>
        <p:nvSpPr>
          <p:cNvPr id="11" name="Google Shape;11;p6"/>
          <p:cNvSpPr txBox="1"/>
          <p:nvPr>
            <p:ph type="title"/>
          </p:nvPr>
        </p:nvSpPr>
        <p:spPr>
          <a:xfrm>
            <a:off x="464100" y="3098125"/>
            <a:ext cx="6988200" cy="910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rgbClr val="FFFFFF"/>
              </a:buClr>
              <a:buSzPts val="4000"/>
              <a:buNone/>
              <a:defRPr sz="4000">
                <a:solidFill>
                  <a:srgbClr val="FFFFFF"/>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2" name="Google Shape;12;p6"/>
          <p:cNvSpPr txBox="1"/>
          <p:nvPr>
            <p:ph idx="1" type="subTitle"/>
          </p:nvPr>
        </p:nvSpPr>
        <p:spPr>
          <a:xfrm>
            <a:off x="464100" y="3794075"/>
            <a:ext cx="7516500" cy="795600"/>
          </a:xfrm>
          <a:prstGeom prst="rect">
            <a:avLst/>
          </a:prstGeom>
          <a:noFill/>
          <a:ln>
            <a:noFill/>
          </a:ln>
        </p:spPr>
        <p:txBody>
          <a:bodyPr anchorCtr="0" anchor="ctr" bIns="91425" lIns="91425" spcFirstLastPara="1" rIns="91425" wrap="square" tIns="91425">
            <a:normAutofit/>
          </a:bodyPr>
          <a:lstStyle>
            <a:lvl1pPr lvl="0" algn="l">
              <a:lnSpc>
                <a:spcPct val="115000"/>
              </a:lnSpc>
              <a:spcBef>
                <a:spcPts val="0"/>
              </a:spcBef>
              <a:spcAft>
                <a:spcPts val="0"/>
              </a:spcAft>
              <a:buClr>
                <a:srgbClr val="EF7C14"/>
              </a:buClr>
              <a:buSzPts val="2500"/>
              <a:buFont typeface="Roboto Medium"/>
              <a:buNone/>
              <a:defRPr sz="2500">
                <a:solidFill>
                  <a:schemeClr val="lt1"/>
                </a:solidFill>
                <a:latin typeface="Roboto Medium"/>
                <a:ea typeface="Roboto Medium"/>
                <a:cs typeface="Roboto Medium"/>
                <a:sym typeface="Roboto Medium"/>
              </a:defRPr>
            </a:lvl1pPr>
            <a:lvl2pPr lvl="1" algn="l">
              <a:lnSpc>
                <a:spcPct val="115000"/>
              </a:lnSpc>
              <a:spcBef>
                <a:spcPts val="0"/>
              </a:spcBef>
              <a:spcAft>
                <a:spcPts val="0"/>
              </a:spcAft>
              <a:buClr>
                <a:srgbClr val="EF7C14"/>
              </a:buClr>
              <a:buSzPts val="1400"/>
              <a:buNone/>
              <a:defRPr>
                <a:solidFill>
                  <a:srgbClr val="EF7C14"/>
                </a:solidFill>
              </a:defRPr>
            </a:lvl2pPr>
            <a:lvl3pPr lvl="2" algn="l">
              <a:lnSpc>
                <a:spcPct val="115000"/>
              </a:lnSpc>
              <a:spcBef>
                <a:spcPts val="0"/>
              </a:spcBef>
              <a:spcAft>
                <a:spcPts val="0"/>
              </a:spcAft>
              <a:buClr>
                <a:srgbClr val="EF7C14"/>
              </a:buClr>
              <a:buSzPts val="1400"/>
              <a:buNone/>
              <a:defRPr>
                <a:solidFill>
                  <a:srgbClr val="EF7C14"/>
                </a:solidFill>
              </a:defRPr>
            </a:lvl3pPr>
            <a:lvl4pPr lvl="3" algn="l">
              <a:lnSpc>
                <a:spcPct val="115000"/>
              </a:lnSpc>
              <a:spcBef>
                <a:spcPts val="0"/>
              </a:spcBef>
              <a:spcAft>
                <a:spcPts val="0"/>
              </a:spcAft>
              <a:buClr>
                <a:srgbClr val="EF7C14"/>
              </a:buClr>
              <a:buSzPts val="1400"/>
              <a:buNone/>
              <a:defRPr>
                <a:solidFill>
                  <a:srgbClr val="EF7C14"/>
                </a:solidFill>
              </a:defRPr>
            </a:lvl4pPr>
            <a:lvl5pPr lvl="4" algn="l">
              <a:lnSpc>
                <a:spcPct val="115000"/>
              </a:lnSpc>
              <a:spcBef>
                <a:spcPts val="0"/>
              </a:spcBef>
              <a:spcAft>
                <a:spcPts val="0"/>
              </a:spcAft>
              <a:buClr>
                <a:srgbClr val="EF7C14"/>
              </a:buClr>
              <a:buSzPts val="1400"/>
              <a:buNone/>
              <a:defRPr>
                <a:solidFill>
                  <a:srgbClr val="EF7C14"/>
                </a:solidFill>
              </a:defRPr>
            </a:lvl5pPr>
            <a:lvl6pPr lvl="5" algn="l">
              <a:lnSpc>
                <a:spcPct val="115000"/>
              </a:lnSpc>
              <a:spcBef>
                <a:spcPts val="0"/>
              </a:spcBef>
              <a:spcAft>
                <a:spcPts val="0"/>
              </a:spcAft>
              <a:buClr>
                <a:srgbClr val="EF7C14"/>
              </a:buClr>
              <a:buSzPts val="1400"/>
              <a:buNone/>
              <a:defRPr>
                <a:solidFill>
                  <a:srgbClr val="EF7C14"/>
                </a:solidFill>
              </a:defRPr>
            </a:lvl6pPr>
            <a:lvl7pPr lvl="6" algn="l">
              <a:lnSpc>
                <a:spcPct val="115000"/>
              </a:lnSpc>
              <a:spcBef>
                <a:spcPts val="0"/>
              </a:spcBef>
              <a:spcAft>
                <a:spcPts val="0"/>
              </a:spcAft>
              <a:buClr>
                <a:srgbClr val="EF7C14"/>
              </a:buClr>
              <a:buSzPts val="1400"/>
              <a:buNone/>
              <a:defRPr>
                <a:solidFill>
                  <a:srgbClr val="EF7C14"/>
                </a:solidFill>
              </a:defRPr>
            </a:lvl7pPr>
            <a:lvl8pPr lvl="7" algn="l">
              <a:lnSpc>
                <a:spcPct val="115000"/>
              </a:lnSpc>
              <a:spcBef>
                <a:spcPts val="0"/>
              </a:spcBef>
              <a:spcAft>
                <a:spcPts val="0"/>
              </a:spcAft>
              <a:buClr>
                <a:srgbClr val="EF7C14"/>
              </a:buClr>
              <a:buSzPts val="1400"/>
              <a:buNone/>
              <a:defRPr>
                <a:solidFill>
                  <a:srgbClr val="EF7C14"/>
                </a:solidFill>
              </a:defRPr>
            </a:lvl8pPr>
            <a:lvl9pPr lvl="8" algn="l">
              <a:lnSpc>
                <a:spcPct val="115000"/>
              </a:lnSpc>
              <a:spcBef>
                <a:spcPts val="0"/>
              </a:spcBef>
              <a:spcAft>
                <a:spcPts val="0"/>
              </a:spcAft>
              <a:buClr>
                <a:srgbClr val="EF7C14"/>
              </a:buClr>
              <a:buSzPts val="1400"/>
              <a:buNone/>
              <a:defRPr>
                <a:solidFill>
                  <a:srgbClr val="EF7C14"/>
                </a:solidFill>
              </a:defRPr>
            </a:lvl9pPr>
          </a:lstStyle>
          <a:p/>
        </p:txBody>
      </p:sp>
      <p:pic>
        <p:nvPicPr>
          <p:cNvPr id="13" name="Google Shape;13;p6"/>
          <p:cNvPicPr preferRelativeResize="0"/>
          <p:nvPr/>
        </p:nvPicPr>
        <p:blipFill rotWithShape="1">
          <a:blip r:embed="rId3">
            <a:alphaModFix/>
          </a:blip>
          <a:srcRect b="0" l="0" r="0" t="0"/>
          <a:stretch/>
        </p:blipFill>
        <p:spPr>
          <a:xfrm>
            <a:off x="6657348" y="1505461"/>
            <a:ext cx="2272593" cy="189804"/>
          </a:xfrm>
          <a:prstGeom prst="rect">
            <a:avLst/>
          </a:prstGeom>
          <a:noFill/>
          <a:ln>
            <a:noFill/>
          </a:ln>
        </p:spPr>
      </p:pic>
      <p:pic>
        <p:nvPicPr>
          <p:cNvPr id="14" name="Google Shape;14;p6"/>
          <p:cNvPicPr preferRelativeResize="0"/>
          <p:nvPr/>
        </p:nvPicPr>
        <p:blipFill rotWithShape="1">
          <a:blip r:embed="rId4">
            <a:alphaModFix/>
          </a:blip>
          <a:srcRect b="0" l="0" r="0" t="0"/>
          <a:stretch/>
        </p:blipFill>
        <p:spPr>
          <a:xfrm>
            <a:off x="6657348" y="187745"/>
            <a:ext cx="2063598" cy="1295458"/>
          </a:xfrm>
          <a:prstGeom prst="rect">
            <a:avLst/>
          </a:prstGeom>
          <a:noFill/>
          <a:ln>
            <a:noFill/>
          </a:ln>
        </p:spPr>
      </p:pic>
      <p:pic>
        <p:nvPicPr>
          <p:cNvPr id="15" name="Google Shape;15;p6"/>
          <p:cNvPicPr preferRelativeResize="0"/>
          <p:nvPr/>
        </p:nvPicPr>
        <p:blipFill rotWithShape="1">
          <a:blip r:embed="rId5">
            <a:alphaModFix/>
          </a:blip>
          <a:srcRect b="0" l="0" r="0" t="0"/>
          <a:stretch/>
        </p:blipFill>
        <p:spPr>
          <a:xfrm>
            <a:off x="7595858" y="4726170"/>
            <a:ext cx="1407814" cy="312848"/>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400"/>
              <a:buFont typeface="Roboto"/>
              <a:buNone/>
              <a:defRPr b="1" i="0" sz="2400" u="none" cap="none" strike="noStrike">
                <a:solidFill>
                  <a:srgbClr val="25346A"/>
                </a:solidFill>
                <a:latin typeface="Roboto"/>
                <a:ea typeface="Roboto"/>
                <a:cs typeface="Roboto"/>
                <a:sym typeface="Roboto"/>
              </a:defRPr>
            </a:lvl1pPr>
            <a:lvl2pPr lvl="1" algn="l">
              <a:lnSpc>
                <a:spcPct val="100000"/>
              </a:lnSpc>
              <a:spcBef>
                <a:spcPts val="0"/>
              </a:spcBef>
              <a:spcAft>
                <a:spcPts val="0"/>
              </a:spcAft>
              <a:buSzPts val="2400"/>
              <a:buFont typeface="Roboto"/>
              <a:buNone/>
              <a:defRPr b="1" sz="2400">
                <a:latin typeface="Roboto"/>
                <a:ea typeface="Roboto"/>
                <a:cs typeface="Roboto"/>
                <a:sym typeface="Roboto"/>
              </a:defRPr>
            </a:lvl2pPr>
            <a:lvl3pPr lvl="2" algn="l">
              <a:lnSpc>
                <a:spcPct val="100000"/>
              </a:lnSpc>
              <a:spcBef>
                <a:spcPts val="0"/>
              </a:spcBef>
              <a:spcAft>
                <a:spcPts val="0"/>
              </a:spcAft>
              <a:buSzPts val="2400"/>
              <a:buFont typeface="Roboto"/>
              <a:buNone/>
              <a:defRPr b="1" sz="2400">
                <a:latin typeface="Roboto"/>
                <a:ea typeface="Roboto"/>
                <a:cs typeface="Roboto"/>
                <a:sym typeface="Roboto"/>
              </a:defRPr>
            </a:lvl3pPr>
            <a:lvl4pPr lvl="3" algn="l">
              <a:lnSpc>
                <a:spcPct val="100000"/>
              </a:lnSpc>
              <a:spcBef>
                <a:spcPts val="0"/>
              </a:spcBef>
              <a:spcAft>
                <a:spcPts val="0"/>
              </a:spcAft>
              <a:buSzPts val="2400"/>
              <a:buFont typeface="Roboto"/>
              <a:buNone/>
              <a:defRPr b="1" sz="2400">
                <a:latin typeface="Roboto"/>
                <a:ea typeface="Roboto"/>
                <a:cs typeface="Roboto"/>
                <a:sym typeface="Roboto"/>
              </a:defRPr>
            </a:lvl4pPr>
            <a:lvl5pPr lvl="4" algn="l">
              <a:lnSpc>
                <a:spcPct val="100000"/>
              </a:lnSpc>
              <a:spcBef>
                <a:spcPts val="0"/>
              </a:spcBef>
              <a:spcAft>
                <a:spcPts val="0"/>
              </a:spcAft>
              <a:buSzPts val="2400"/>
              <a:buFont typeface="Roboto"/>
              <a:buNone/>
              <a:defRPr b="1" sz="2400">
                <a:latin typeface="Roboto"/>
                <a:ea typeface="Roboto"/>
                <a:cs typeface="Roboto"/>
                <a:sym typeface="Roboto"/>
              </a:defRPr>
            </a:lvl5pPr>
            <a:lvl6pPr lvl="5" algn="l">
              <a:lnSpc>
                <a:spcPct val="100000"/>
              </a:lnSpc>
              <a:spcBef>
                <a:spcPts val="0"/>
              </a:spcBef>
              <a:spcAft>
                <a:spcPts val="0"/>
              </a:spcAft>
              <a:buSzPts val="2400"/>
              <a:buFont typeface="Roboto"/>
              <a:buNone/>
              <a:defRPr b="1" sz="2400">
                <a:latin typeface="Roboto"/>
                <a:ea typeface="Roboto"/>
                <a:cs typeface="Roboto"/>
                <a:sym typeface="Roboto"/>
              </a:defRPr>
            </a:lvl6pPr>
            <a:lvl7pPr lvl="6" algn="l">
              <a:lnSpc>
                <a:spcPct val="100000"/>
              </a:lnSpc>
              <a:spcBef>
                <a:spcPts val="0"/>
              </a:spcBef>
              <a:spcAft>
                <a:spcPts val="0"/>
              </a:spcAft>
              <a:buSzPts val="2400"/>
              <a:buFont typeface="Roboto"/>
              <a:buNone/>
              <a:defRPr b="1" sz="2400">
                <a:latin typeface="Roboto"/>
                <a:ea typeface="Roboto"/>
                <a:cs typeface="Roboto"/>
                <a:sym typeface="Roboto"/>
              </a:defRPr>
            </a:lvl7pPr>
            <a:lvl8pPr lvl="7" algn="l">
              <a:lnSpc>
                <a:spcPct val="100000"/>
              </a:lnSpc>
              <a:spcBef>
                <a:spcPts val="0"/>
              </a:spcBef>
              <a:spcAft>
                <a:spcPts val="0"/>
              </a:spcAft>
              <a:buSzPts val="2400"/>
              <a:buFont typeface="Roboto"/>
              <a:buNone/>
              <a:defRPr b="1" sz="2400">
                <a:latin typeface="Roboto"/>
                <a:ea typeface="Roboto"/>
                <a:cs typeface="Roboto"/>
                <a:sym typeface="Roboto"/>
              </a:defRPr>
            </a:lvl8pPr>
            <a:lvl9pPr lvl="8" algn="l">
              <a:lnSpc>
                <a:spcPct val="100000"/>
              </a:lnSpc>
              <a:spcBef>
                <a:spcPts val="0"/>
              </a:spcBef>
              <a:spcAft>
                <a:spcPts val="0"/>
              </a:spcAft>
              <a:buSzPts val="2400"/>
              <a:buFont typeface="Roboto"/>
              <a:buNone/>
              <a:defRPr b="1" sz="2400">
                <a:latin typeface="Roboto"/>
                <a:ea typeface="Roboto"/>
                <a:cs typeface="Roboto"/>
                <a:sym typeface="Roboto"/>
              </a:defRPr>
            </a:lvl9pPr>
          </a:lstStyle>
          <a:p/>
        </p:txBody>
      </p:sp>
      <p:sp>
        <p:nvSpPr>
          <p:cNvPr id="18" name="Google Shape;18;p7"/>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Font typeface="Roboto"/>
              <a:buChar char="●"/>
              <a:defRPr sz="1400">
                <a:latin typeface="Roboto"/>
                <a:ea typeface="Roboto"/>
                <a:cs typeface="Roboto"/>
                <a:sym typeface="Roboto"/>
              </a:defRPr>
            </a:lvl1pPr>
            <a:lvl2pPr indent="-317500" lvl="1" marL="914400" algn="l">
              <a:lnSpc>
                <a:spcPct val="115000"/>
              </a:lnSpc>
              <a:spcBef>
                <a:spcPts val="0"/>
              </a:spcBef>
              <a:spcAft>
                <a:spcPts val="0"/>
              </a:spcAft>
              <a:buSzPts val="1400"/>
              <a:buFont typeface="Roboto"/>
              <a:buChar char="○"/>
              <a:defRPr>
                <a:latin typeface="Roboto"/>
                <a:ea typeface="Roboto"/>
                <a:cs typeface="Roboto"/>
                <a:sym typeface="Roboto"/>
              </a:defRPr>
            </a:lvl2pPr>
            <a:lvl3pPr indent="-317500" lvl="2" marL="1371600" algn="l">
              <a:lnSpc>
                <a:spcPct val="115000"/>
              </a:lnSpc>
              <a:spcBef>
                <a:spcPts val="0"/>
              </a:spcBef>
              <a:spcAft>
                <a:spcPts val="0"/>
              </a:spcAft>
              <a:buSzPts val="1400"/>
              <a:buFont typeface="Roboto"/>
              <a:buChar char="■"/>
              <a:defRPr>
                <a:latin typeface="Roboto"/>
                <a:ea typeface="Roboto"/>
                <a:cs typeface="Roboto"/>
                <a:sym typeface="Roboto"/>
              </a:defRPr>
            </a:lvl3pPr>
            <a:lvl4pPr indent="-317500" lvl="3" marL="1828800" algn="l">
              <a:lnSpc>
                <a:spcPct val="115000"/>
              </a:lnSpc>
              <a:spcBef>
                <a:spcPts val="0"/>
              </a:spcBef>
              <a:spcAft>
                <a:spcPts val="0"/>
              </a:spcAft>
              <a:buSzPts val="1400"/>
              <a:buFont typeface="Roboto"/>
              <a:buChar char="●"/>
              <a:defRPr>
                <a:latin typeface="Roboto"/>
                <a:ea typeface="Roboto"/>
                <a:cs typeface="Roboto"/>
                <a:sym typeface="Roboto"/>
              </a:defRPr>
            </a:lvl4pPr>
            <a:lvl5pPr indent="-317500" lvl="4" marL="2286000" algn="l">
              <a:lnSpc>
                <a:spcPct val="115000"/>
              </a:lnSpc>
              <a:spcBef>
                <a:spcPts val="0"/>
              </a:spcBef>
              <a:spcAft>
                <a:spcPts val="0"/>
              </a:spcAft>
              <a:buSzPts val="1400"/>
              <a:buFont typeface="Roboto"/>
              <a:buChar char="○"/>
              <a:defRPr>
                <a:latin typeface="Roboto"/>
                <a:ea typeface="Roboto"/>
                <a:cs typeface="Roboto"/>
                <a:sym typeface="Roboto"/>
              </a:defRPr>
            </a:lvl5pPr>
            <a:lvl6pPr indent="-317500" lvl="5" marL="2743200" algn="l">
              <a:lnSpc>
                <a:spcPct val="115000"/>
              </a:lnSpc>
              <a:spcBef>
                <a:spcPts val="0"/>
              </a:spcBef>
              <a:spcAft>
                <a:spcPts val="0"/>
              </a:spcAft>
              <a:buSzPts val="1400"/>
              <a:buFont typeface="Roboto"/>
              <a:buChar char="■"/>
              <a:defRPr>
                <a:latin typeface="Roboto"/>
                <a:ea typeface="Roboto"/>
                <a:cs typeface="Roboto"/>
                <a:sym typeface="Roboto"/>
              </a:defRPr>
            </a:lvl6pPr>
            <a:lvl7pPr indent="-317500" lvl="6" marL="3200400" algn="l">
              <a:lnSpc>
                <a:spcPct val="115000"/>
              </a:lnSpc>
              <a:spcBef>
                <a:spcPts val="0"/>
              </a:spcBef>
              <a:spcAft>
                <a:spcPts val="0"/>
              </a:spcAft>
              <a:buSzPts val="1400"/>
              <a:buFont typeface="Roboto"/>
              <a:buChar char="●"/>
              <a:defRPr>
                <a:latin typeface="Roboto"/>
                <a:ea typeface="Roboto"/>
                <a:cs typeface="Roboto"/>
                <a:sym typeface="Roboto"/>
              </a:defRPr>
            </a:lvl7pPr>
            <a:lvl8pPr indent="-317500" lvl="7" marL="3657600" algn="l">
              <a:lnSpc>
                <a:spcPct val="115000"/>
              </a:lnSpc>
              <a:spcBef>
                <a:spcPts val="0"/>
              </a:spcBef>
              <a:spcAft>
                <a:spcPts val="0"/>
              </a:spcAft>
              <a:buSzPts val="1400"/>
              <a:buFont typeface="Roboto"/>
              <a:buChar char="○"/>
              <a:defRPr>
                <a:latin typeface="Roboto"/>
                <a:ea typeface="Roboto"/>
                <a:cs typeface="Roboto"/>
                <a:sym typeface="Roboto"/>
              </a:defRPr>
            </a:lvl8pPr>
            <a:lvl9pPr indent="-317500" lvl="8" marL="4114800" algn="l">
              <a:lnSpc>
                <a:spcPct val="115000"/>
              </a:lnSpc>
              <a:spcBef>
                <a:spcPts val="0"/>
              </a:spcBef>
              <a:spcAft>
                <a:spcPts val="0"/>
              </a:spcAft>
              <a:buSzPts val="1400"/>
              <a:buFont typeface="Roboto"/>
              <a:buChar char="■"/>
              <a:defRPr>
                <a:latin typeface="Roboto"/>
                <a:ea typeface="Roboto"/>
                <a:cs typeface="Roboto"/>
                <a:sym typeface="Roboto"/>
              </a:defRPr>
            </a:lvl9pPr>
          </a:lstStyle>
          <a:p/>
        </p:txBody>
      </p:sp>
      <p:pic>
        <p:nvPicPr>
          <p:cNvPr id="19" name="Google Shape;19;p7"/>
          <p:cNvPicPr preferRelativeResize="0"/>
          <p:nvPr/>
        </p:nvPicPr>
        <p:blipFill rotWithShape="1">
          <a:blip r:embed="rId2">
            <a:alphaModFix/>
          </a:blip>
          <a:srcRect b="0" l="53583" r="0" t="0"/>
          <a:stretch/>
        </p:blipFill>
        <p:spPr>
          <a:xfrm>
            <a:off x="0" y="394226"/>
            <a:ext cx="311700" cy="674100"/>
          </a:xfrm>
          <a:prstGeom prst="rect">
            <a:avLst/>
          </a:prstGeom>
          <a:noFill/>
          <a:ln>
            <a:noFill/>
          </a:ln>
        </p:spPr>
      </p:pic>
      <p:pic>
        <p:nvPicPr>
          <p:cNvPr id="20" name="Google Shape;20;p7"/>
          <p:cNvPicPr preferRelativeResize="0"/>
          <p:nvPr/>
        </p:nvPicPr>
        <p:blipFill rotWithShape="1">
          <a:blip r:embed="rId3">
            <a:alphaModFix/>
          </a:blip>
          <a:srcRect b="0" l="0" r="0" t="0"/>
          <a:stretch/>
        </p:blipFill>
        <p:spPr>
          <a:xfrm>
            <a:off x="0" y="4749797"/>
            <a:ext cx="9144000" cy="393600"/>
          </a:xfrm>
          <a:prstGeom prst="rect">
            <a:avLst/>
          </a:prstGeom>
          <a:noFill/>
          <a:ln>
            <a:noFill/>
          </a:ln>
        </p:spPr>
      </p:pic>
      <p:sp>
        <p:nvSpPr>
          <p:cNvPr id="21" name="Google Shape;21;p7"/>
          <p:cNvSpPr txBox="1"/>
          <p:nvPr>
            <p:ph idx="12" type="sldNum"/>
          </p:nvPr>
        </p:nvSpPr>
        <p:spPr>
          <a:xfrm>
            <a:off x="8472458" y="4789959"/>
            <a:ext cx="548700" cy="316192"/>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22" name="Google Shape;22;p7"/>
          <p:cNvPicPr preferRelativeResize="0"/>
          <p:nvPr/>
        </p:nvPicPr>
        <p:blipFill rotWithShape="1">
          <a:blip r:embed="rId4">
            <a:alphaModFix/>
          </a:blip>
          <a:srcRect b="0" l="0" r="0" t="0"/>
          <a:stretch/>
        </p:blipFill>
        <p:spPr>
          <a:xfrm>
            <a:off x="2905989" y="4827865"/>
            <a:ext cx="3332021" cy="278286"/>
          </a:xfrm>
          <a:prstGeom prst="rect">
            <a:avLst/>
          </a:prstGeom>
          <a:noFill/>
          <a:ln>
            <a:noFill/>
          </a:ln>
        </p:spPr>
      </p:pic>
      <p:pic>
        <p:nvPicPr>
          <p:cNvPr id="23" name="Google Shape;23;p7"/>
          <p:cNvPicPr preferRelativeResize="0"/>
          <p:nvPr/>
        </p:nvPicPr>
        <p:blipFill rotWithShape="1">
          <a:blip r:embed="rId5">
            <a:alphaModFix/>
          </a:blip>
          <a:srcRect b="0" l="0" r="0" t="0"/>
          <a:stretch/>
        </p:blipFill>
        <p:spPr>
          <a:xfrm>
            <a:off x="311700" y="4771154"/>
            <a:ext cx="584516" cy="345986"/>
          </a:xfrm>
          <a:prstGeom prst="rect">
            <a:avLst/>
          </a:prstGeom>
          <a:noFill/>
          <a:ln>
            <a:noFill/>
          </a:ln>
        </p:spPr>
      </p:pic>
      <p:pic>
        <p:nvPicPr>
          <p:cNvPr id="24" name="Google Shape;24;p7"/>
          <p:cNvPicPr preferRelativeResize="0"/>
          <p:nvPr/>
        </p:nvPicPr>
        <p:blipFill rotWithShape="1">
          <a:blip r:embed="rId6">
            <a:alphaModFix/>
          </a:blip>
          <a:srcRect b="0" l="0" r="0" t="0"/>
          <a:stretch/>
        </p:blipFill>
        <p:spPr>
          <a:xfrm>
            <a:off x="7026412" y="4790989"/>
            <a:ext cx="1446045" cy="321343"/>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pic>
        <p:nvPicPr>
          <p:cNvPr id="26" name="Google Shape;26;p8"/>
          <p:cNvPicPr preferRelativeResize="0"/>
          <p:nvPr/>
        </p:nvPicPr>
        <p:blipFill rotWithShape="1">
          <a:blip r:embed="rId2">
            <a:alphaModFix amt="11000"/>
          </a:blip>
          <a:srcRect b="0" l="0" r="0" t="0"/>
          <a:stretch/>
        </p:blipFill>
        <p:spPr>
          <a:xfrm rot="-5400000">
            <a:off x="2158615" y="-2137275"/>
            <a:ext cx="868970" cy="5143501"/>
          </a:xfrm>
          <a:prstGeom prst="rect">
            <a:avLst/>
          </a:prstGeom>
          <a:noFill/>
          <a:ln>
            <a:noFill/>
          </a:ln>
        </p:spPr>
      </p:pic>
      <p:pic>
        <p:nvPicPr>
          <p:cNvPr id="27" name="Google Shape;27;p8"/>
          <p:cNvPicPr preferRelativeResize="0"/>
          <p:nvPr/>
        </p:nvPicPr>
        <p:blipFill rotWithShape="1">
          <a:blip r:embed="rId2">
            <a:alphaModFix amt="11000"/>
          </a:blip>
          <a:srcRect b="4935" l="0" r="0" t="17694"/>
          <a:stretch/>
        </p:blipFill>
        <p:spPr>
          <a:xfrm rot="-5400000">
            <a:off x="6719951" y="-1555100"/>
            <a:ext cx="868950" cy="3979151"/>
          </a:xfrm>
          <a:prstGeom prst="rect">
            <a:avLst/>
          </a:prstGeom>
          <a:noFill/>
          <a:ln>
            <a:noFill/>
          </a:ln>
        </p:spPr>
      </p:pic>
      <p:sp>
        <p:nvSpPr>
          <p:cNvPr id="28" name="Google Shape;28;p8"/>
          <p:cNvSpPr/>
          <p:nvPr/>
        </p:nvSpPr>
        <p:spPr>
          <a:xfrm rot="5400000">
            <a:off x="4113300" y="-4111500"/>
            <a:ext cx="917400" cy="9140400"/>
          </a:xfrm>
          <a:prstGeom prst="rect">
            <a:avLst/>
          </a:prstGeom>
          <a:gradFill>
            <a:gsLst>
              <a:gs pos="0">
                <a:schemeClr val="lt1"/>
              </a:gs>
              <a:gs pos="100000">
                <a:srgbClr val="FFFFFF">
                  <a:alpha val="0"/>
                </a:srgbClr>
              </a:gs>
            </a:gsLst>
            <a:lin ang="10800025" scaled="0"/>
          </a:gra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rgbClr val="25346A"/>
              </a:buClr>
              <a:buSzPts val="2400"/>
              <a:buFont typeface="Roboto"/>
              <a:buNone/>
              <a:defRPr b="1" sz="2400">
                <a:solidFill>
                  <a:srgbClr val="25346A"/>
                </a:solidFill>
                <a:latin typeface="Roboto"/>
                <a:ea typeface="Roboto"/>
                <a:cs typeface="Roboto"/>
                <a:sym typeface="Roboto"/>
              </a:defRPr>
            </a:lvl1pPr>
            <a:lvl2pPr lvl="1" algn="l">
              <a:lnSpc>
                <a:spcPct val="100000"/>
              </a:lnSpc>
              <a:spcBef>
                <a:spcPts val="0"/>
              </a:spcBef>
              <a:spcAft>
                <a:spcPts val="0"/>
              </a:spcAft>
              <a:buSzPts val="2400"/>
              <a:buFont typeface="Roboto"/>
              <a:buNone/>
              <a:defRPr b="1" sz="2400">
                <a:latin typeface="Roboto"/>
                <a:ea typeface="Roboto"/>
                <a:cs typeface="Roboto"/>
                <a:sym typeface="Roboto"/>
              </a:defRPr>
            </a:lvl2pPr>
            <a:lvl3pPr lvl="2" algn="l">
              <a:lnSpc>
                <a:spcPct val="100000"/>
              </a:lnSpc>
              <a:spcBef>
                <a:spcPts val="0"/>
              </a:spcBef>
              <a:spcAft>
                <a:spcPts val="0"/>
              </a:spcAft>
              <a:buSzPts val="2400"/>
              <a:buFont typeface="Roboto"/>
              <a:buNone/>
              <a:defRPr b="1" sz="2400">
                <a:latin typeface="Roboto"/>
                <a:ea typeface="Roboto"/>
                <a:cs typeface="Roboto"/>
                <a:sym typeface="Roboto"/>
              </a:defRPr>
            </a:lvl3pPr>
            <a:lvl4pPr lvl="3" algn="l">
              <a:lnSpc>
                <a:spcPct val="100000"/>
              </a:lnSpc>
              <a:spcBef>
                <a:spcPts val="0"/>
              </a:spcBef>
              <a:spcAft>
                <a:spcPts val="0"/>
              </a:spcAft>
              <a:buSzPts val="2400"/>
              <a:buFont typeface="Roboto"/>
              <a:buNone/>
              <a:defRPr b="1" sz="2400">
                <a:latin typeface="Roboto"/>
                <a:ea typeface="Roboto"/>
                <a:cs typeface="Roboto"/>
                <a:sym typeface="Roboto"/>
              </a:defRPr>
            </a:lvl4pPr>
            <a:lvl5pPr lvl="4" algn="l">
              <a:lnSpc>
                <a:spcPct val="100000"/>
              </a:lnSpc>
              <a:spcBef>
                <a:spcPts val="0"/>
              </a:spcBef>
              <a:spcAft>
                <a:spcPts val="0"/>
              </a:spcAft>
              <a:buSzPts val="2400"/>
              <a:buFont typeface="Roboto"/>
              <a:buNone/>
              <a:defRPr b="1" sz="2400">
                <a:latin typeface="Roboto"/>
                <a:ea typeface="Roboto"/>
                <a:cs typeface="Roboto"/>
                <a:sym typeface="Roboto"/>
              </a:defRPr>
            </a:lvl5pPr>
            <a:lvl6pPr lvl="5" algn="l">
              <a:lnSpc>
                <a:spcPct val="100000"/>
              </a:lnSpc>
              <a:spcBef>
                <a:spcPts val="0"/>
              </a:spcBef>
              <a:spcAft>
                <a:spcPts val="0"/>
              </a:spcAft>
              <a:buSzPts val="2400"/>
              <a:buFont typeface="Roboto"/>
              <a:buNone/>
              <a:defRPr b="1" sz="2400">
                <a:latin typeface="Roboto"/>
                <a:ea typeface="Roboto"/>
                <a:cs typeface="Roboto"/>
                <a:sym typeface="Roboto"/>
              </a:defRPr>
            </a:lvl6pPr>
            <a:lvl7pPr lvl="6" algn="l">
              <a:lnSpc>
                <a:spcPct val="100000"/>
              </a:lnSpc>
              <a:spcBef>
                <a:spcPts val="0"/>
              </a:spcBef>
              <a:spcAft>
                <a:spcPts val="0"/>
              </a:spcAft>
              <a:buSzPts val="2400"/>
              <a:buFont typeface="Roboto"/>
              <a:buNone/>
              <a:defRPr b="1" sz="2400">
                <a:latin typeface="Roboto"/>
                <a:ea typeface="Roboto"/>
                <a:cs typeface="Roboto"/>
                <a:sym typeface="Roboto"/>
              </a:defRPr>
            </a:lvl7pPr>
            <a:lvl8pPr lvl="7" algn="l">
              <a:lnSpc>
                <a:spcPct val="100000"/>
              </a:lnSpc>
              <a:spcBef>
                <a:spcPts val="0"/>
              </a:spcBef>
              <a:spcAft>
                <a:spcPts val="0"/>
              </a:spcAft>
              <a:buSzPts val="2400"/>
              <a:buFont typeface="Roboto"/>
              <a:buNone/>
              <a:defRPr b="1" sz="2400">
                <a:latin typeface="Roboto"/>
                <a:ea typeface="Roboto"/>
                <a:cs typeface="Roboto"/>
                <a:sym typeface="Roboto"/>
              </a:defRPr>
            </a:lvl8pPr>
            <a:lvl9pPr lvl="8" algn="l">
              <a:lnSpc>
                <a:spcPct val="100000"/>
              </a:lnSpc>
              <a:spcBef>
                <a:spcPts val="0"/>
              </a:spcBef>
              <a:spcAft>
                <a:spcPts val="0"/>
              </a:spcAft>
              <a:buSzPts val="2400"/>
              <a:buFont typeface="Roboto"/>
              <a:buNone/>
              <a:defRPr b="1" sz="2400">
                <a:latin typeface="Roboto"/>
                <a:ea typeface="Roboto"/>
                <a:cs typeface="Roboto"/>
                <a:sym typeface="Roboto"/>
              </a:defRPr>
            </a:lvl9pPr>
          </a:lstStyle>
          <a:p/>
        </p:txBody>
      </p:sp>
      <p:pic>
        <p:nvPicPr>
          <p:cNvPr id="30" name="Google Shape;30;p8"/>
          <p:cNvPicPr preferRelativeResize="0"/>
          <p:nvPr/>
        </p:nvPicPr>
        <p:blipFill rotWithShape="1">
          <a:blip r:embed="rId3">
            <a:alphaModFix/>
          </a:blip>
          <a:srcRect b="0" l="53583" r="0" t="0"/>
          <a:stretch/>
        </p:blipFill>
        <p:spPr>
          <a:xfrm>
            <a:off x="0" y="394226"/>
            <a:ext cx="311700" cy="674100"/>
          </a:xfrm>
          <a:prstGeom prst="rect">
            <a:avLst/>
          </a:prstGeom>
          <a:noFill/>
          <a:ln>
            <a:noFill/>
          </a:ln>
        </p:spPr>
      </p:pic>
      <p:pic>
        <p:nvPicPr>
          <p:cNvPr id="31" name="Google Shape;31;p8"/>
          <p:cNvPicPr preferRelativeResize="0"/>
          <p:nvPr/>
        </p:nvPicPr>
        <p:blipFill rotWithShape="1">
          <a:blip r:embed="rId4">
            <a:alphaModFix/>
          </a:blip>
          <a:srcRect b="0" l="0" r="0" t="0"/>
          <a:stretch/>
        </p:blipFill>
        <p:spPr>
          <a:xfrm>
            <a:off x="0" y="4749797"/>
            <a:ext cx="9144000" cy="393600"/>
          </a:xfrm>
          <a:prstGeom prst="rect">
            <a:avLst/>
          </a:prstGeom>
          <a:noFill/>
          <a:ln>
            <a:noFill/>
          </a:ln>
        </p:spPr>
      </p:pic>
      <p:sp>
        <p:nvSpPr>
          <p:cNvPr id="32" name="Google Shape;32;p8"/>
          <p:cNvSpPr txBox="1"/>
          <p:nvPr>
            <p:ph idx="12" type="sldNum"/>
          </p:nvPr>
        </p:nvSpPr>
        <p:spPr>
          <a:xfrm>
            <a:off x="8472458" y="4789959"/>
            <a:ext cx="548700" cy="316192"/>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33" name="Google Shape;33;p8"/>
          <p:cNvPicPr preferRelativeResize="0"/>
          <p:nvPr/>
        </p:nvPicPr>
        <p:blipFill rotWithShape="1">
          <a:blip r:embed="rId5">
            <a:alphaModFix/>
          </a:blip>
          <a:srcRect b="0" l="0" r="0" t="0"/>
          <a:stretch/>
        </p:blipFill>
        <p:spPr>
          <a:xfrm>
            <a:off x="2905989" y="4827865"/>
            <a:ext cx="3332021" cy="278286"/>
          </a:xfrm>
          <a:prstGeom prst="rect">
            <a:avLst/>
          </a:prstGeom>
          <a:noFill/>
          <a:ln>
            <a:noFill/>
          </a:ln>
        </p:spPr>
      </p:pic>
      <p:pic>
        <p:nvPicPr>
          <p:cNvPr id="34" name="Google Shape;34;p8"/>
          <p:cNvPicPr preferRelativeResize="0"/>
          <p:nvPr/>
        </p:nvPicPr>
        <p:blipFill rotWithShape="1">
          <a:blip r:embed="rId6">
            <a:alphaModFix/>
          </a:blip>
          <a:srcRect b="0" l="0" r="0" t="0"/>
          <a:stretch/>
        </p:blipFill>
        <p:spPr>
          <a:xfrm>
            <a:off x="7026412" y="4790989"/>
            <a:ext cx="1446045" cy="321343"/>
          </a:xfrm>
          <a:prstGeom prst="rect">
            <a:avLst/>
          </a:prstGeom>
          <a:noFill/>
          <a:ln>
            <a:noFill/>
          </a:ln>
        </p:spPr>
      </p:pic>
      <p:pic>
        <p:nvPicPr>
          <p:cNvPr id="35" name="Google Shape;35;p8"/>
          <p:cNvPicPr preferRelativeResize="0"/>
          <p:nvPr/>
        </p:nvPicPr>
        <p:blipFill rotWithShape="1">
          <a:blip r:embed="rId7">
            <a:alphaModFix/>
          </a:blip>
          <a:srcRect b="0" l="0" r="0" t="0"/>
          <a:stretch/>
        </p:blipFill>
        <p:spPr>
          <a:xfrm>
            <a:off x="311700" y="4771154"/>
            <a:ext cx="584516" cy="34598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36" name="Shape 36"/>
        <p:cNvGrpSpPr/>
        <p:nvPr/>
      </p:nvGrpSpPr>
      <p:grpSpPr>
        <a:xfrm>
          <a:off x="0" y="0"/>
          <a:ext cx="0" cy="0"/>
          <a:chOff x="0" y="0"/>
          <a:chExt cx="0" cy="0"/>
        </a:xfrm>
      </p:grpSpPr>
      <p:pic>
        <p:nvPicPr>
          <p:cNvPr id="37" name="Google Shape;37;p9"/>
          <p:cNvPicPr preferRelativeResize="0"/>
          <p:nvPr/>
        </p:nvPicPr>
        <p:blipFill rotWithShape="1">
          <a:blip r:embed="rId2">
            <a:alphaModFix/>
          </a:blip>
          <a:srcRect b="0" l="0" r="0" t="0"/>
          <a:stretch/>
        </p:blipFill>
        <p:spPr>
          <a:xfrm>
            <a:off x="1115" y="0"/>
            <a:ext cx="9155849" cy="5151422"/>
          </a:xfrm>
          <a:prstGeom prst="rect">
            <a:avLst/>
          </a:prstGeom>
          <a:noFill/>
          <a:ln>
            <a:noFill/>
          </a:ln>
        </p:spPr>
      </p:pic>
      <p:pic>
        <p:nvPicPr>
          <p:cNvPr id="38" name="Google Shape;38;p9"/>
          <p:cNvPicPr preferRelativeResize="0"/>
          <p:nvPr/>
        </p:nvPicPr>
        <p:blipFill rotWithShape="1">
          <a:blip r:embed="rId3">
            <a:alphaModFix/>
          </a:blip>
          <a:srcRect b="0" l="0" r="0" t="0"/>
          <a:stretch/>
        </p:blipFill>
        <p:spPr>
          <a:xfrm>
            <a:off x="6657348" y="1505461"/>
            <a:ext cx="2272593" cy="189804"/>
          </a:xfrm>
          <a:prstGeom prst="rect">
            <a:avLst/>
          </a:prstGeom>
          <a:noFill/>
          <a:ln>
            <a:noFill/>
          </a:ln>
        </p:spPr>
      </p:pic>
      <p:pic>
        <p:nvPicPr>
          <p:cNvPr id="39" name="Google Shape;39;p9"/>
          <p:cNvPicPr preferRelativeResize="0"/>
          <p:nvPr/>
        </p:nvPicPr>
        <p:blipFill rotWithShape="1">
          <a:blip r:embed="rId4">
            <a:alphaModFix/>
          </a:blip>
          <a:srcRect b="0" l="0" r="0" t="0"/>
          <a:stretch/>
        </p:blipFill>
        <p:spPr>
          <a:xfrm>
            <a:off x="6657348" y="187745"/>
            <a:ext cx="2063598" cy="1295458"/>
          </a:xfrm>
          <a:prstGeom prst="rect">
            <a:avLst/>
          </a:prstGeom>
          <a:noFill/>
          <a:ln>
            <a:noFill/>
          </a:ln>
        </p:spPr>
      </p:pic>
      <p:sp>
        <p:nvSpPr>
          <p:cNvPr id="40" name="Google Shape;40;p9"/>
          <p:cNvSpPr txBox="1"/>
          <p:nvPr>
            <p:ph type="title"/>
          </p:nvPr>
        </p:nvSpPr>
        <p:spPr>
          <a:xfrm>
            <a:off x="0" y="2220966"/>
            <a:ext cx="9142200" cy="12438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rgbClr val="F39725"/>
              </a:buClr>
              <a:buSzPts val="5000"/>
              <a:buNone/>
              <a:defRPr sz="5000">
                <a:solidFill>
                  <a:schemeClr val="lt1"/>
                </a:solidFill>
              </a:defRPr>
            </a:lvl1pPr>
            <a:lvl2pPr lvl="1" algn="l">
              <a:lnSpc>
                <a:spcPct val="100000"/>
              </a:lnSpc>
              <a:spcBef>
                <a:spcPts val="0"/>
              </a:spcBef>
              <a:spcAft>
                <a:spcPts val="0"/>
              </a:spcAft>
              <a:buClr>
                <a:srgbClr val="F39725"/>
              </a:buClr>
              <a:buSzPts val="2800"/>
              <a:buNone/>
              <a:defRPr>
                <a:solidFill>
                  <a:srgbClr val="F39725"/>
                </a:solidFill>
              </a:defRPr>
            </a:lvl2pPr>
            <a:lvl3pPr lvl="2" algn="l">
              <a:lnSpc>
                <a:spcPct val="100000"/>
              </a:lnSpc>
              <a:spcBef>
                <a:spcPts val="0"/>
              </a:spcBef>
              <a:spcAft>
                <a:spcPts val="0"/>
              </a:spcAft>
              <a:buClr>
                <a:srgbClr val="F39725"/>
              </a:buClr>
              <a:buSzPts val="2800"/>
              <a:buNone/>
              <a:defRPr>
                <a:solidFill>
                  <a:srgbClr val="F39725"/>
                </a:solidFill>
              </a:defRPr>
            </a:lvl3pPr>
            <a:lvl4pPr lvl="3" algn="l">
              <a:lnSpc>
                <a:spcPct val="100000"/>
              </a:lnSpc>
              <a:spcBef>
                <a:spcPts val="0"/>
              </a:spcBef>
              <a:spcAft>
                <a:spcPts val="0"/>
              </a:spcAft>
              <a:buClr>
                <a:srgbClr val="F39725"/>
              </a:buClr>
              <a:buSzPts val="2800"/>
              <a:buNone/>
              <a:defRPr>
                <a:solidFill>
                  <a:srgbClr val="F39725"/>
                </a:solidFill>
              </a:defRPr>
            </a:lvl4pPr>
            <a:lvl5pPr lvl="4" algn="l">
              <a:lnSpc>
                <a:spcPct val="100000"/>
              </a:lnSpc>
              <a:spcBef>
                <a:spcPts val="0"/>
              </a:spcBef>
              <a:spcAft>
                <a:spcPts val="0"/>
              </a:spcAft>
              <a:buClr>
                <a:srgbClr val="F39725"/>
              </a:buClr>
              <a:buSzPts val="2800"/>
              <a:buNone/>
              <a:defRPr>
                <a:solidFill>
                  <a:srgbClr val="F39725"/>
                </a:solidFill>
              </a:defRPr>
            </a:lvl5pPr>
            <a:lvl6pPr lvl="5" algn="l">
              <a:lnSpc>
                <a:spcPct val="100000"/>
              </a:lnSpc>
              <a:spcBef>
                <a:spcPts val="0"/>
              </a:spcBef>
              <a:spcAft>
                <a:spcPts val="0"/>
              </a:spcAft>
              <a:buClr>
                <a:srgbClr val="F39725"/>
              </a:buClr>
              <a:buSzPts val="2800"/>
              <a:buNone/>
              <a:defRPr>
                <a:solidFill>
                  <a:srgbClr val="F39725"/>
                </a:solidFill>
              </a:defRPr>
            </a:lvl6pPr>
            <a:lvl7pPr lvl="6" algn="l">
              <a:lnSpc>
                <a:spcPct val="100000"/>
              </a:lnSpc>
              <a:spcBef>
                <a:spcPts val="0"/>
              </a:spcBef>
              <a:spcAft>
                <a:spcPts val="0"/>
              </a:spcAft>
              <a:buClr>
                <a:srgbClr val="F39725"/>
              </a:buClr>
              <a:buSzPts val="2800"/>
              <a:buNone/>
              <a:defRPr>
                <a:solidFill>
                  <a:srgbClr val="F39725"/>
                </a:solidFill>
              </a:defRPr>
            </a:lvl7pPr>
            <a:lvl8pPr lvl="7" algn="l">
              <a:lnSpc>
                <a:spcPct val="100000"/>
              </a:lnSpc>
              <a:spcBef>
                <a:spcPts val="0"/>
              </a:spcBef>
              <a:spcAft>
                <a:spcPts val="0"/>
              </a:spcAft>
              <a:buClr>
                <a:srgbClr val="F39725"/>
              </a:buClr>
              <a:buSzPts val="2800"/>
              <a:buNone/>
              <a:defRPr>
                <a:solidFill>
                  <a:srgbClr val="F39725"/>
                </a:solidFill>
              </a:defRPr>
            </a:lvl8pPr>
            <a:lvl9pPr lvl="8" algn="l">
              <a:lnSpc>
                <a:spcPct val="100000"/>
              </a:lnSpc>
              <a:spcBef>
                <a:spcPts val="0"/>
              </a:spcBef>
              <a:spcAft>
                <a:spcPts val="0"/>
              </a:spcAft>
              <a:buClr>
                <a:srgbClr val="F39725"/>
              </a:buClr>
              <a:buSzPts val="2800"/>
              <a:buNone/>
              <a:defRPr>
                <a:solidFill>
                  <a:srgbClr val="F39725"/>
                </a:solidFil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1pPr>
            <a:lvl2pPr lvl="1"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9pPr>
          </a:lstStyle>
          <a:p/>
        </p:txBody>
      </p:sp>
      <p:sp>
        <p:nvSpPr>
          <p:cNvPr id="7" name="Google Shape;7;p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a:buChar char="●"/>
              <a:defRPr b="0" i="0" sz="1800" u="none" cap="none" strike="noStrike">
                <a:solidFill>
                  <a:schemeClr val="dk2"/>
                </a:solidFill>
                <a:latin typeface="Roboto"/>
                <a:ea typeface="Roboto"/>
                <a:cs typeface="Roboto"/>
                <a:sym typeface="Roboto"/>
              </a:defRPr>
            </a:lvl1pPr>
            <a:lvl2pPr indent="-317500" lvl="1" marL="9144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2pPr>
            <a:lvl3pPr indent="-317500" lvl="2" marL="13716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3pPr>
            <a:lvl4pPr indent="-317500" lvl="3" marL="18288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4pPr>
            <a:lvl5pPr indent="-317500" lvl="4" marL="22860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5pPr>
            <a:lvl6pPr indent="-317500" lvl="5" marL="27432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6pPr>
            <a:lvl7pPr indent="-317500" lvl="6" marL="32004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7pPr>
            <a:lvl8pPr indent="-317500" lvl="7" marL="36576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8pPr>
            <a:lvl9pPr indent="-317500" lvl="8" marL="41148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9pPr>
          </a:lstStyle>
          <a:p/>
        </p:txBody>
      </p:sp>
      <p:sp>
        <p:nvSpPr>
          <p:cNvPr id="8" name="Google Shape;8;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
          <p:cNvSpPr txBox="1"/>
          <p:nvPr>
            <p:ph type="title"/>
          </p:nvPr>
        </p:nvSpPr>
        <p:spPr>
          <a:xfrm>
            <a:off x="464100" y="3098125"/>
            <a:ext cx="6988200" cy="9105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Clr>
                <a:srgbClr val="FFFFFF"/>
              </a:buClr>
              <a:buSzPts val="4000"/>
              <a:buNone/>
            </a:pPr>
            <a:r>
              <a:rPr lang="en"/>
              <a:t>Hyperion Steward</a:t>
            </a:r>
            <a:endParaRPr/>
          </a:p>
        </p:txBody>
      </p:sp>
      <p:sp>
        <p:nvSpPr>
          <p:cNvPr id="46" name="Google Shape;46;p1"/>
          <p:cNvSpPr txBox="1"/>
          <p:nvPr>
            <p:ph idx="1" type="subTitle"/>
          </p:nvPr>
        </p:nvSpPr>
        <p:spPr>
          <a:xfrm>
            <a:off x="464100" y="3794075"/>
            <a:ext cx="7516500" cy="795600"/>
          </a:xfrm>
          <a:prstGeom prst="rect">
            <a:avLst/>
          </a:prstGeom>
          <a:noFill/>
          <a:ln>
            <a:noFill/>
          </a:ln>
        </p:spPr>
        <p:txBody>
          <a:bodyPr anchorCtr="0" anchor="ctr" bIns="91425" lIns="91425" spcFirstLastPara="1" rIns="91425" wrap="square" tIns="91425">
            <a:normAutofit/>
          </a:bodyPr>
          <a:lstStyle/>
          <a:p>
            <a:r>
              <a:rPr sz="1600">
                <a:solidFill>
                  <a:srgbClr val="FFFFFF"/>
                </a:solidFill>
              </a:rPr>
              <a:t>Challenge 1 · HYPER-AI  |  says done only once it has seen it done</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2400"/>
              <a:buFont typeface="Roboto"/>
              <a:buNone/>
            </a:pPr>
            <a:r>
              <a:rPr lang="en"/>
              <a:t>GitHub repo</a:t>
            </a:r>
            <a:endParaRPr/>
          </a:p>
        </p:txBody>
      </p:sp>
      <p:sp>
        <p:nvSpPr>
          <p:cNvPr id="52" name="Google Shape;52;p2"/>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17500" lvl="0" marL="457200" rtl="0" algn="l">
              <a:lnSpc>
                <a:spcPct val="115000"/>
              </a:lnSpc>
              <a:spcBef>
                <a:spcPts val="0"/>
              </a:spcBef>
              <a:spcAft>
                <a:spcPts val="800"/>
              </a:spcAft>
              <a:buSzPts val="1400"/>
              <a:buChar char="●"/>
            </a:pPr>
            <a:r>
              <a:rPr b="1" sz="1400">
                <a:solidFill>
                  <a:srgbClr val="1F2A6B"/>
                </a:solidFill>
              </a:rPr>
              <a:t>GitHub repo: </a:t>
            </a:r>
            <a:r>
              <a:rPr sz="1400">
                <a:solidFill>
                  <a:srgbClr val="212121"/>
                </a:solidFill>
              </a:rPr>
              <a:t>github.com/Faadil1/veles-hack-2026</a:t>
            </a:r>
            <a:endParaRPr/>
          </a:p>
          <a:p>
            <a:pPr>
              <a:spcAft>
                <a:spcPts val="800"/>
              </a:spcAft>
            </a:pPr>
            <a:r>
              <a:rPr b="1" sz="1400">
                <a:solidFill>
                  <a:srgbClr val="1F2A6B"/>
                </a:solidFill>
              </a:rPr>
              <a:t>Docker image: </a:t>
            </a:r>
            <a:r>
              <a:rPr sz="1400">
                <a:solidFill>
                  <a:srgbClr val="212121"/>
                </a:solidFill>
              </a:rPr>
              <a:t>faadil12/hyperion:latest  (exposes :8000/chat)</a:t>
            </a:r>
          </a:p>
          <a:p>
            <a:pPr>
              <a:spcAft>
                <a:spcPts val="800"/>
              </a:spcAft>
            </a:pPr>
            <a:r>
              <a:rPr b="1" sz="1400">
                <a:solidFill>
                  <a:srgbClr val="1F2A6B"/>
                </a:solidFill>
              </a:rPr>
              <a:t>Run: </a:t>
            </a:r>
            <a:r>
              <a:rPr sz="1400">
                <a:solidFill>
                  <a:srgbClr val="212121"/>
                </a:solidFill>
              </a:rPr>
              <a:t>docker run -p 8000:8000 --add-host host.docker.internal:host-gateway -e API_KEY=&lt;key&gt; faadil12/hyperion:latest</a:t>
            </a:r>
          </a:p>
          <a:p>
            <a:pPr>
              <a:spcAft>
                <a:spcPts val="800"/>
              </a:spcAft>
            </a:pPr>
            <a:r>
              <a:rPr b="1" sz="1400">
                <a:solidFill>
                  <a:srgbClr val="1F2A6B"/>
                </a:solidFill>
              </a:rPr>
              <a:t>Licence: </a:t>
            </a:r>
            <a:r>
              <a:rPr sz="1400">
                <a:solidFill>
                  <a:srgbClr val="212121"/>
                </a:solidFill>
              </a:rPr>
              <a:t>Apache-2.0, as in the official hyperion-starter</a:t>
            </a:r>
          </a:p>
          <a:p>
            <a:pPr>
              <a:spcAft>
                <a:spcPts val="800"/>
              </a:spcAft>
            </a:pPr>
            <a:r>
              <a:rPr b="1" sz="1400">
                <a:solidFill>
                  <a:srgbClr val="1F2A6B"/>
                </a:solidFill>
              </a:rPr>
              <a:t>Evidence: </a:t>
            </a:r>
            <a:r>
              <a:rPr sz="1400">
                <a:solidFill>
                  <a:srgbClr val="212121"/>
                </a:solidFill>
              </a:rPr>
              <a:t>CI reports on the ci-evidence branch (official IDE images, digests recorded)</a:t>
            </a:r>
          </a:p>
        </p:txBody>
      </p:sp>
      <p:sp>
        <p:nvSpPr>
          <p:cNvPr id="53" name="Google Shape;53;p2"/>
          <p:cNvSpPr txBox="1"/>
          <p:nvPr>
            <p:ph idx="12" type="sldNum"/>
          </p:nvPr>
        </p:nvSpPr>
        <p:spPr>
          <a:xfrm>
            <a:off x="8472458" y="4789959"/>
            <a:ext cx="548700" cy="316192"/>
          </a:xfrm>
          <a:prstGeom prst="rect">
            <a:avLst/>
          </a:prstGeom>
          <a:noFill/>
          <a:ln>
            <a:noFill/>
          </a:ln>
        </p:spPr>
        <p:txBody>
          <a:bodyPr anchorCtr="0" anchor="ctr" bIns="91425" lIns="91425" spcFirstLastPara="1" rIns="91425" wrap="square" tIns="91425">
            <a:normAutofit fontScale="92500" lnSpcReduction="10000"/>
          </a:bodyPr>
          <a:lstStyle/>
          <a:p>
            <a:pPr indent="0" lvl="0" marL="0" marR="0" rtl="0" algn="r">
              <a:lnSpc>
                <a:spcPct val="100000"/>
              </a:lnSpc>
              <a:spcBef>
                <a:spcPts val="0"/>
              </a:spcBef>
              <a:spcAft>
                <a:spcPts val="0"/>
              </a:spcAft>
              <a:buClr>
                <a:srgbClr val="000000"/>
              </a:buClr>
              <a:buSzPct val="108108"/>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 name="Shape 57"/>
        <p:cNvGrpSpPr/>
        <p:nvPr/>
      </p:nvGrpSpPr>
      <p:grpSpPr>
        <a:xfrm>
          <a:off x="0" y="0"/>
          <a:ext cx="0" cy="0"/>
          <a:chOff x="0" y="0"/>
          <a:chExt cx="0" cy="0"/>
        </a:xfrm>
      </p:grpSpPr>
      <p:sp>
        <p:nvSpPr>
          <p:cNvPr id="58" name="Google Shape;58;h2296137532f5afa_0_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2400"/>
              <a:buFont typeface="Roboto"/>
              <a:buNone/>
            </a:pPr>
            <a:r>
              <a:rPr lang="en"/>
              <a:t>Summary</a:t>
            </a:r>
            <a:endParaRPr/>
          </a:p>
        </p:txBody>
      </p:sp>
      <p:sp>
        <p:nvSpPr>
          <p:cNvPr id="59" name="Google Shape;59;h2296137532f5afa_0_0"/>
          <p:cNvSpPr txBox="1"/>
          <p:nvPr>
            <p:ph idx="1" type="body"/>
          </p:nvPr>
        </p:nvSpPr>
        <p:spPr>
          <a:xfrm>
            <a:off x="311700" y="1152475"/>
            <a:ext cx="4206240" cy="3416400"/>
          </a:xfrm>
          <a:prstGeom prst="rect">
            <a:avLst/>
          </a:prstGeom>
          <a:noFill/>
          <a:ln>
            <a:noFill/>
          </a:ln>
        </p:spPr>
        <p:txBody>
          <a:bodyPr anchorCtr="0" anchor="t" bIns="91425" lIns="91425" spcFirstLastPara="1" rIns="91425" wrap="square" tIns="91425">
            <a:normAutofit/>
          </a:bodyPr>
          <a:lstStyle/>
          <a:p>
            <a:pPr indent="-317500" lvl="0" marL="457200" rtl="0" algn="l">
              <a:lnSpc>
                <a:spcPct val="115000"/>
              </a:lnSpc>
              <a:spcBef>
                <a:spcPts val="0"/>
              </a:spcBef>
              <a:spcAft>
                <a:spcPts val="800"/>
              </a:spcAft>
              <a:buSzPts val="1400"/>
              <a:buChar char="●"/>
            </a:pPr>
            <a:r>
              <a:rPr sz="1300">
                <a:solidFill>
                  <a:srgbClr val="212121"/>
                </a:solidFill>
              </a:rPr>
              <a:t>A drop-in /chat microservice for the HYPER-AI IDE: answers HYPER-AI questions from the official documents and turns plain language into IDE actions.</a:t>
            </a:r>
            <a:endParaRPr/>
          </a:p>
          <a:p>
            <a:pPr>
              <a:spcAft>
                <a:spcPts val="800"/>
              </a:spcAft>
            </a:pPr>
            <a:r>
              <a:rPr sz="1300">
                <a:solidFill>
                  <a:srgbClr val="212121"/>
                </a:solidFill>
              </a:rPr>
              <a:t>We read the IDE the judges run, not only its tutorial. Its actions are fire-and-forget: a naive agent says done when nothing happened.</a:t>
            </a:r>
          </a:p>
          <a:p>
            <a:pPr>
              <a:spcAft>
                <a:spcPts val="800"/>
              </a:spcAft>
            </a:pPr>
            <a:r>
              <a:rPr sz="1300">
                <a:solidFill>
                  <a:srgbClr val="212121"/>
                </a:solidFill>
              </a:rPr>
              <a:t>Steward checks every profile with an exact copy of the IDE validator, then reads the workspace back and only claims what it saw. Confirmation, restore points and undo for every change.</a:t>
            </a:r>
          </a:p>
        </p:txBody>
      </p:sp>
      <p:sp>
        <p:nvSpPr>
          <p:cNvPr id="60" name="Google Shape;60;h2296137532f5afa_0_0"/>
          <p:cNvSpPr txBox="1"/>
          <p:nvPr>
            <p:ph idx="12" type="sldNum"/>
          </p:nvPr>
        </p:nvSpPr>
        <p:spPr>
          <a:xfrm>
            <a:off x="8472458" y="4789959"/>
            <a:ext cx="548700" cy="316200"/>
          </a:xfrm>
          <a:prstGeom prst="rect">
            <a:avLst/>
          </a:prstGeom>
          <a:noFill/>
          <a:ln>
            <a:noFill/>
          </a:ln>
        </p:spPr>
        <p:txBody>
          <a:bodyPr anchorCtr="0" anchor="ctr" bIns="91425" lIns="91425" spcFirstLastPara="1" rIns="91425" wrap="square" tIns="91425">
            <a:normAutofit lnSpcReduction="20000"/>
          </a:bodyPr>
          <a:lstStyle/>
          <a:p>
            <a:pPr indent="0" lvl="0" marL="0" marR="0" rtl="0" algn="r">
              <a:lnSpc>
                <a:spcPct val="100000"/>
              </a:lnSpc>
              <a:spcBef>
                <a:spcPts val="0"/>
              </a:spcBef>
              <a:spcAft>
                <a:spcPts val="0"/>
              </a:spcAft>
              <a:buClr>
                <a:srgbClr val="000000"/>
              </a:buClr>
              <a:buSzPts val="1081"/>
              <a:buFont typeface="Arial"/>
              <a:buNone/>
            </a:pPr>
            <a:fld id="{00000000-1234-1234-1234-123412341234}" type="slidenum">
              <a:rPr lang="en"/>
              <a:t>‹#›</a:t>
            </a:fld>
            <a:endParaRPr/>
          </a:p>
        </p:txBody>
      </p:sp>
      <p:pic>
        <p:nvPicPr>
          <p:cNvPr id="61" name="panel-screenshot" descr="crop-03-ambiguous-1085-625.png"/>
          <p:cNvPicPr>
            <a:picLocks noChangeAspect="1"/>
          </p:cNvPicPr>
          <p:nvPr/>
        </p:nvPicPr>
        <p:blipFill>
          <a:blip r:embed="rId3"/>
          <a:stretch>
            <a:fillRect/>
          </a:stretch>
        </p:blipFill>
        <p:spPr>
          <a:xfrm>
            <a:off x="4846320" y="1325880"/>
            <a:ext cx="3931920" cy="1426285"/>
          </a:xfrm>
          <a:prstGeom prst="rect">
            <a:avLst/>
          </a:prstGeom>
          <a:ln w="9525">
            <a:solidFill>
              <a:srgbClr val="D0D4E4"/>
            </a:solidFill>
          </a:ln>
        </p:spPr>
      </p:pic>
      <p:sp>
        <p:nvSpPr>
          <p:cNvPr id="62" name="text"/>
          <p:cNvSpPr txBox="1"/>
          <p:nvPr/>
        </p:nvSpPr>
        <p:spPr>
          <a:xfrm>
            <a:off x="4846320" y="2880360"/>
            <a:ext cx="3931920" cy="365760"/>
          </a:xfrm>
          <a:prstGeom prst="rect">
            <a:avLst/>
          </a:prstGeom>
          <a:noFill/>
        </p:spPr>
        <p:txBody>
          <a:bodyPr wrap="square" anchor="t" lIns="0" rIns="0" tIns="0" bIns="0">
            <a:spAutoFit/>
          </a:bodyPr>
          <a:lstStyle/>
          <a:p>
            <a:pPr algn="l">
              <a:spcAft>
                <a:spcPts val="400"/>
              </a:spcAft>
            </a:pPr>
            <a:r>
              <a:rPr sz="1000" b="0">
                <a:solidFill>
                  <a:srgbClr val="595959"/>
                </a:solidFill>
                <a:latin typeface="Arial"/>
              </a:rPr>
              <a:t>The official IDE (organisers' GUI and backend images), a browser typing into the Hyperion panel in CI.</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h2296137532f5afa_0_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2400"/>
              <a:buFont typeface="Roboto"/>
              <a:buNone/>
            </a:pPr>
            <a:r>
              <a:rPr lang="en"/>
              <a:t>Highlights</a:t>
            </a:r>
            <a:endParaRPr/>
          </a:p>
        </p:txBody>
      </p:sp>
      <p:sp>
        <p:nvSpPr>
          <p:cNvPr id="67" name="Google Shape;67;h2296137532f5afa_0_6"/>
          <p:cNvSpPr txBox="1"/>
          <p:nvPr>
            <p:ph idx="12" type="sldNum"/>
          </p:nvPr>
        </p:nvSpPr>
        <p:spPr>
          <a:xfrm>
            <a:off x="8472458" y="4789959"/>
            <a:ext cx="548700" cy="316200"/>
          </a:xfrm>
          <a:prstGeom prst="rect">
            <a:avLst/>
          </a:prstGeom>
          <a:noFill/>
          <a:ln>
            <a:noFill/>
          </a:ln>
        </p:spPr>
        <p:txBody>
          <a:bodyPr anchorCtr="0" anchor="ctr" bIns="91425" lIns="91425" spcFirstLastPara="1" rIns="91425" wrap="square" tIns="91425">
            <a:normAutofit lnSpcReduction="20000"/>
          </a:bodyPr>
          <a:lstStyle/>
          <a:p>
            <a:pPr indent="0" lvl="0" marL="0" marR="0" rtl="0" algn="r">
              <a:lnSpc>
                <a:spcPct val="100000"/>
              </a:lnSpc>
              <a:spcBef>
                <a:spcPts val="0"/>
              </a:spcBef>
              <a:spcAft>
                <a:spcPts val="0"/>
              </a:spcAft>
              <a:buClr>
                <a:srgbClr val="000000"/>
              </a:buClr>
              <a:buSzPts val="1081"/>
              <a:buFont typeface="Arial"/>
              <a:buNone/>
            </a:pPr>
            <a:fld id="{00000000-1234-1234-1234-123412341234}" type="slidenum">
              <a:rPr lang="en"/>
              <a:t>‹#›</a:t>
            </a:fld>
            <a:endParaRPr/>
          </a:p>
        </p:txBody>
      </p:sp>
      <p:sp>
        <p:nvSpPr>
          <p:cNvPr id="68" name="stat-0"/>
          <p:cNvSpPr/>
          <p:nvPr/>
        </p:nvSpPr>
        <p:spPr>
          <a:xfrm>
            <a:off x="411480" y="1234440"/>
            <a:ext cx="1938528" cy="237744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stat-0-value"/>
          <p:cNvSpPr txBox="1"/>
          <p:nvPr/>
        </p:nvSpPr>
        <p:spPr>
          <a:xfrm>
            <a:off x="576072" y="1417320"/>
            <a:ext cx="1645920" cy="822960"/>
          </a:xfrm>
          <a:prstGeom prst="rect">
            <a:avLst/>
          </a:prstGeom>
          <a:noFill/>
        </p:spPr>
        <p:txBody>
          <a:bodyPr wrap="square" anchor="t" lIns="0" rIns="0" tIns="0" bIns="0">
            <a:spAutoFit/>
          </a:bodyPr>
          <a:lstStyle/>
          <a:p>
            <a:pPr algn="l">
              <a:spcAft>
                <a:spcPts val="400"/>
              </a:spcAft>
            </a:pPr>
            <a:r>
              <a:rPr sz="4400" b="1">
                <a:solidFill>
                  <a:srgbClr val="1F2A6B"/>
                </a:solidFill>
                <a:latin typeface="Arial"/>
              </a:rPr>
              <a:t>0</a:t>
            </a:r>
          </a:p>
        </p:txBody>
      </p:sp>
      <p:sp>
        <p:nvSpPr>
          <p:cNvPr id="70" name="stat-0-label"/>
          <p:cNvSpPr txBox="1"/>
          <p:nvPr/>
        </p:nvSpPr>
        <p:spPr>
          <a:xfrm>
            <a:off x="576072" y="2331720"/>
            <a:ext cx="1645920" cy="118872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disagreements with the IDE's own validator, over 5,536 test profiles</a:t>
            </a:r>
          </a:p>
        </p:txBody>
      </p:sp>
      <p:sp>
        <p:nvSpPr>
          <p:cNvPr id="71" name="stat-1"/>
          <p:cNvSpPr/>
          <p:nvPr/>
        </p:nvSpPr>
        <p:spPr>
          <a:xfrm>
            <a:off x="2532888" y="1234440"/>
            <a:ext cx="1938528" cy="237744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stat-1-value"/>
          <p:cNvSpPr txBox="1"/>
          <p:nvPr/>
        </p:nvSpPr>
        <p:spPr>
          <a:xfrm>
            <a:off x="2697480" y="1417320"/>
            <a:ext cx="1645920" cy="822960"/>
          </a:xfrm>
          <a:prstGeom prst="rect">
            <a:avLst/>
          </a:prstGeom>
          <a:noFill/>
        </p:spPr>
        <p:txBody>
          <a:bodyPr wrap="square" anchor="t" lIns="0" rIns="0" tIns="0" bIns="0">
            <a:spAutoFit/>
          </a:bodyPr>
          <a:lstStyle/>
          <a:p>
            <a:pPr algn="l">
              <a:spcAft>
                <a:spcPts val="400"/>
              </a:spcAft>
            </a:pPr>
            <a:r>
              <a:rPr sz="4400" b="1">
                <a:solidFill>
                  <a:srgbClr val="1E7A4F"/>
                </a:solidFill>
                <a:latin typeface="Arial"/>
              </a:rPr>
              <a:t>9/9</a:t>
            </a:r>
          </a:p>
        </p:txBody>
      </p:sp>
      <p:sp>
        <p:nvSpPr>
          <p:cNvPr id="73" name="stat-1-label"/>
          <p:cNvSpPr txBox="1"/>
          <p:nvPr/>
        </p:nvSpPr>
        <p:spPr>
          <a:xfrm>
            <a:off x="2697480" y="2331720"/>
            <a:ext cx="1645920" cy="118872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safety scenarios handled correctly. Naive agent: 1/9</a:t>
            </a:r>
          </a:p>
        </p:txBody>
      </p:sp>
      <p:sp>
        <p:nvSpPr>
          <p:cNvPr id="74" name="stat-2"/>
          <p:cNvSpPr/>
          <p:nvPr/>
        </p:nvSpPr>
        <p:spPr>
          <a:xfrm>
            <a:off x="4654296" y="1234440"/>
            <a:ext cx="1938528" cy="237744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stat-2-value"/>
          <p:cNvSpPr txBox="1"/>
          <p:nvPr/>
        </p:nvSpPr>
        <p:spPr>
          <a:xfrm>
            <a:off x="4818888" y="1417320"/>
            <a:ext cx="1645920" cy="822960"/>
          </a:xfrm>
          <a:prstGeom prst="rect">
            <a:avLst/>
          </a:prstGeom>
          <a:noFill/>
        </p:spPr>
        <p:txBody>
          <a:bodyPr wrap="square" anchor="t" lIns="0" rIns="0" tIns="0" bIns="0">
            <a:spAutoFit/>
          </a:bodyPr>
          <a:lstStyle/>
          <a:p>
            <a:pPr algn="l">
              <a:spcAft>
                <a:spcPts val="400"/>
              </a:spcAft>
            </a:pPr>
            <a:r>
              <a:rPr sz="4400" b="1">
                <a:solidFill>
                  <a:srgbClr val="1E7A4F"/>
                </a:solidFill>
                <a:latin typeface="Arial"/>
              </a:rPr>
              <a:t>0</a:t>
            </a:r>
          </a:p>
        </p:txBody>
      </p:sp>
      <p:sp>
        <p:nvSpPr>
          <p:cNvPr id="76" name="stat-2-label"/>
          <p:cNvSpPr txBox="1"/>
          <p:nvPr/>
        </p:nvSpPr>
        <p:spPr>
          <a:xfrm>
            <a:off x="4818888" y="2331720"/>
            <a:ext cx="1645920" cy="118872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false "done" claims. Naive agent: 5</a:t>
            </a:r>
          </a:p>
        </p:txBody>
      </p:sp>
      <p:sp>
        <p:nvSpPr>
          <p:cNvPr id="77" name="stat-3"/>
          <p:cNvSpPr/>
          <p:nvPr/>
        </p:nvSpPr>
        <p:spPr>
          <a:xfrm>
            <a:off x="6775703" y="1234440"/>
            <a:ext cx="1938528" cy="237744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stat-3-value"/>
          <p:cNvSpPr txBox="1"/>
          <p:nvPr/>
        </p:nvSpPr>
        <p:spPr>
          <a:xfrm>
            <a:off x="6940295" y="1417320"/>
            <a:ext cx="1645920" cy="822960"/>
          </a:xfrm>
          <a:prstGeom prst="rect">
            <a:avLst/>
          </a:prstGeom>
          <a:noFill/>
        </p:spPr>
        <p:txBody>
          <a:bodyPr wrap="square" anchor="t" lIns="0" rIns="0" tIns="0" bIns="0">
            <a:spAutoFit/>
          </a:bodyPr>
          <a:lstStyle/>
          <a:p>
            <a:pPr algn="l">
              <a:spcAft>
                <a:spcPts val="400"/>
              </a:spcAft>
            </a:pPr>
            <a:r>
              <a:rPr sz="4400" b="1">
                <a:solidFill>
                  <a:srgbClr val="1F2A6B"/>
                </a:solidFill>
                <a:latin typeface="Arial"/>
              </a:rPr>
              <a:t>6/6</a:t>
            </a:r>
          </a:p>
        </p:txBody>
      </p:sp>
      <p:sp>
        <p:nvSpPr>
          <p:cNvPr id="79" name="stat-3-label"/>
          <p:cNvSpPr txBox="1"/>
          <p:nvPr/>
        </p:nvSpPr>
        <p:spPr>
          <a:xfrm>
            <a:off x="6940295" y="2331720"/>
            <a:ext cx="1645920" cy="118872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live steps against the official backend image, every change verified by read-back</a:t>
            </a:r>
          </a:p>
        </p:txBody>
      </p:sp>
      <p:sp>
        <p:nvSpPr>
          <p:cNvPr id="80" name="text"/>
          <p:cNvSpPr txBox="1"/>
          <p:nvPr/>
        </p:nvSpPr>
        <p:spPr>
          <a:xfrm>
            <a:off x="411480" y="3840480"/>
            <a:ext cx="8321040" cy="640080"/>
          </a:xfrm>
          <a:prstGeom prst="rect">
            <a:avLst/>
          </a:prstGeom>
          <a:noFill/>
        </p:spPr>
        <p:txBody>
          <a:bodyPr wrap="square" anchor="t" lIns="0" rIns="0" tIns="0" bIns="0">
            <a:spAutoFit/>
          </a:bodyPr>
          <a:lstStyle/>
          <a:p>
            <a:pPr algn="l">
              <a:spcAft>
                <a:spcPts val="400"/>
              </a:spcAft>
            </a:pPr>
            <a:r>
              <a:rPr sz="1200" b="1">
                <a:solidFill>
                  <a:srgbClr val="1F2A6B"/>
                </a:solidFill>
                <a:latin typeface="Arial"/>
              </a:rPr>
              <a:t>Also: </a:t>
            </a:r>
            <a:r>
              <a:rPr sz="1200" b="0">
                <a:solidFill>
                  <a:srgbClr val="212121"/>
                </a:solidFill>
                <a:latin typeface="Arial"/>
              </a:rPr>
              <a:t>works without a model for the official example requests (create, delete, check, undo); plain-text replies because the panel does not render markdown; per-session memory sized to the provided 8k-token model.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we found in the shipped IDE</a:t>
            </a:r>
          </a:p>
        </p:txBody>
      </p:sp>
      <p:sp>
        <p:nvSpPr>
          <p:cNvPr id="3" name="finding-1"/>
          <p:cNvSpPr/>
          <p:nvPr/>
        </p:nvSpPr>
        <p:spPr>
          <a:xfrm>
            <a:off x="411480" y="1234440"/>
            <a:ext cx="2633472" cy="27432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finding-1-badge"/>
          <p:cNvSpPr/>
          <p:nvPr/>
        </p:nvSpPr>
        <p:spPr>
          <a:xfrm>
            <a:off x="594360" y="1417320"/>
            <a:ext cx="457200" cy="457200"/>
          </a:xfrm>
          <a:prstGeom prst="ellipse">
            <a:avLst/>
          </a:prstGeom>
          <a:solidFill>
            <a:srgbClr val="1A1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1</a:t>
            </a:r>
          </a:p>
        </p:txBody>
      </p:sp>
      <p:sp>
        <p:nvSpPr>
          <p:cNvPr id="5" name="finding-1-head"/>
          <p:cNvSpPr txBox="1"/>
          <p:nvPr/>
        </p:nvSpPr>
        <p:spPr>
          <a:xfrm>
            <a:off x="594360" y="2011680"/>
            <a:ext cx="2286000" cy="548640"/>
          </a:xfrm>
          <a:prstGeom prst="rect">
            <a:avLst/>
          </a:prstGeom>
          <a:noFill/>
        </p:spPr>
        <p:txBody>
          <a:bodyPr wrap="square" anchor="t" lIns="0" rIns="0" tIns="0" bIns="0">
            <a:spAutoFit/>
          </a:bodyPr>
          <a:lstStyle/>
          <a:p>
            <a:pPr algn="l">
              <a:spcAft>
                <a:spcPts val="400"/>
              </a:spcAft>
            </a:pPr>
            <a:r>
              <a:rPr sz="1500" b="1">
                <a:solidFill>
                  <a:srgbClr val="1F2A6B"/>
                </a:solidFill>
                <a:latin typeface="Arial"/>
              </a:rPr>
              <a:t>Actions are fire-and-forget</a:t>
            </a:r>
          </a:p>
        </p:txBody>
      </p:sp>
      <p:sp>
        <p:nvSpPr>
          <p:cNvPr id="6" name="finding-1-text"/>
          <p:cNvSpPr txBox="1"/>
          <p:nvPr/>
        </p:nvSpPr>
        <p:spPr>
          <a:xfrm>
            <a:off x="594360" y="2606040"/>
            <a:ext cx="2286000" cy="132588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The GUI starts each action and never reports back. Failures only reach the status log.</a:t>
            </a:r>
          </a:p>
        </p:txBody>
      </p:sp>
      <p:sp>
        <p:nvSpPr>
          <p:cNvPr id="7" name="finding-2"/>
          <p:cNvSpPr/>
          <p:nvPr/>
        </p:nvSpPr>
        <p:spPr>
          <a:xfrm>
            <a:off x="3227832" y="1234440"/>
            <a:ext cx="2633472" cy="27432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inding-2-badge"/>
          <p:cNvSpPr/>
          <p:nvPr/>
        </p:nvSpPr>
        <p:spPr>
          <a:xfrm>
            <a:off x="3410712" y="1417320"/>
            <a:ext cx="457200" cy="457200"/>
          </a:xfrm>
          <a:prstGeom prst="ellipse">
            <a:avLst/>
          </a:prstGeom>
          <a:solidFill>
            <a:srgbClr val="1A1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2</a:t>
            </a:r>
          </a:p>
        </p:txBody>
      </p:sp>
      <p:sp>
        <p:nvSpPr>
          <p:cNvPr id="9" name="finding-2-head"/>
          <p:cNvSpPr txBox="1"/>
          <p:nvPr/>
        </p:nvSpPr>
        <p:spPr>
          <a:xfrm>
            <a:off x="3410712" y="2011680"/>
            <a:ext cx="2286000" cy="548640"/>
          </a:xfrm>
          <a:prstGeom prst="rect">
            <a:avLst/>
          </a:prstGeom>
          <a:noFill/>
        </p:spPr>
        <p:txBody>
          <a:bodyPr wrap="square" anchor="t" lIns="0" rIns="0" tIns="0" bIns="0">
            <a:spAutoFit/>
          </a:bodyPr>
          <a:lstStyle/>
          <a:p>
            <a:pPr algn="l">
              <a:spcAft>
                <a:spcPts val="400"/>
              </a:spcAft>
            </a:pPr>
            <a:r>
              <a:rPr sz="1500" b="1">
                <a:solidFill>
                  <a:srgbClr val="1F2A6B"/>
                </a:solidFill>
                <a:latin typeface="Arial"/>
              </a:rPr>
              <a:t>Many actions silently do nothing</a:t>
            </a:r>
          </a:p>
        </p:txBody>
      </p:sp>
      <p:sp>
        <p:nvSpPr>
          <p:cNvPr id="10" name="finding-2-text"/>
          <p:cNvSpPr txBox="1"/>
          <p:nvPr/>
        </p:nvSpPr>
        <p:spPr>
          <a:xfrm>
            <a:off x="3410712" y="2606040"/>
            <a:ext cx="2286000" cy="132588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A name shared by two files, creating a file that exists, a closed IDE tab: no change, no signal. The tutorial says "first match"; the shipped GUI refuses instead.</a:t>
            </a:r>
          </a:p>
        </p:txBody>
      </p:sp>
      <p:sp>
        <p:nvSpPr>
          <p:cNvPr id="11" name="finding-3"/>
          <p:cNvSpPr/>
          <p:nvPr/>
        </p:nvSpPr>
        <p:spPr>
          <a:xfrm>
            <a:off x="6044184" y="1234440"/>
            <a:ext cx="2633472" cy="27432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inding-3-badge"/>
          <p:cNvSpPr/>
          <p:nvPr/>
        </p:nvSpPr>
        <p:spPr>
          <a:xfrm>
            <a:off x="6227064" y="1417320"/>
            <a:ext cx="457200" cy="457200"/>
          </a:xfrm>
          <a:prstGeom prst="ellipse">
            <a:avLst/>
          </a:prstGeom>
          <a:solidFill>
            <a:srgbClr val="1A1FD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rPr>
              <a:t>3</a:t>
            </a:r>
          </a:p>
        </p:txBody>
      </p:sp>
      <p:sp>
        <p:nvSpPr>
          <p:cNvPr id="13" name="finding-3-head"/>
          <p:cNvSpPr txBox="1"/>
          <p:nvPr/>
        </p:nvSpPr>
        <p:spPr>
          <a:xfrm>
            <a:off x="6227064" y="2011680"/>
            <a:ext cx="2286000" cy="548640"/>
          </a:xfrm>
          <a:prstGeom prst="rect">
            <a:avLst/>
          </a:prstGeom>
          <a:noFill/>
        </p:spPr>
        <p:txBody>
          <a:bodyPr wrap="square" anchor="t" lIns="0" rIns="0" tIns="0" bIns="0">
            <a:spAutoFit/>
          </a:bodyPr>
          <a:lstStyle/>
          <a:p>
            <a:pPr algn="l">
              <a:spcAft>
                <a:spcPts val="400"/>
              </a:spcAft>
            </a:pPr>
            <a:r>
              <a:rPr sz="1500" b="1">
                <a:solidFill>
                  <a:srgbClr val="1F2A6B"/>
                </a:solidFill>
                <a:latin typeface="Arial"/>
              </a:rPr>
              <a:t>Nothing checks a profile unless asked</a:t>
            </a:r>
          </a:p>
        </p:txBody>
      </p:sp>
      <p:sp>
        <p:nvSpPr>
          <p:cNvPr id="14" name="finding-3-text"/>
          <p:cNvSpPr txBox="1"/>
          <p:nvPr/>
        </p:nvSpPr>
        <p:spPr>
          <a:xfrm>
            <a:off x="6227064" y="2606040"/>
            <a:ext cx="2286000" cy="1325880"/>
          </a:xfrm>
          <a:prstGeom prst="rect">
            <a:avLst/>
          </a:prstGeom>
          <a:noFill/>
        </p:spPr>
        <p:txBody>
          <a:bodyPr wrap="square" anchor="t" lIns="0" rIns="0" tIns="0" bIns="0">
            <a:spAutoFit/>
          </a:bodyPr>
          <a:lstStyle/>
          <a:p>
            <a:pPr algn="l">
              <a:spcAft>
                <a:spcPts val="400"/>
              </a:spcAft>
            </a:pPr>
            <a:r>
              <a:rPr sz="1200" b="0">
                <a:solidFill>
                  <a:srgbClr val="212121"/>
                </a:solidFill>
                <a:latin typeface="Arial"/>
              </a:rPr>
              <a:t>Under YAML 1.2, isHighlyAvailable: no is a string and schemaVersion: 1.1 a number. Both are saved as is.</a:t>
            </a:r>
          </a:p>
        </p:txBody>
      </p:sp>
      <p:sp>
        <p:nvSpPr>
          <p:cNvPr id="15" name="text"/>
          <p:cNvSpPr txBox="1"/>
          <p:nvPr/>
        </p:nvSpPr>
        <p:spPr>
          <a:xfrm>
            <a:off x="411480" y="4114800"/>
            <a:ext cx="8321040" cy="365760"/>
          </a:xfrm>
          <a:prstGeom prst="rect">
            <a:avLst/>
          </a:prstGeom>
          <a:noFill/>
        </p:spPr>
        <p:txBody>
          <a:bodyPr wrap="square" anchor="t" lIns="0" rIns="0" tIns="0" bIns="0">
            <a:spAutoFit/>
          </a:bodyPr>
          <a:lstStyle/>
          <a:p>
            <a:pPr algn="l">
              <a:spcAft>
                <a:spcPts val="400"/>
              </a:spcAft>
            </a:pPr>
            <a:r>
              <a:rPr sz="1000" b="0">
                <a:solidFill>
                  <a:srgbClr val="595959"/>
                </a:solidFill>
                <a:latin typeface="Arial"/>
              </a:rPr>
              <a:t>Source: the GUI bundle and backend code inside donmichael/ide-gui:latest and donmichael/ide-backend:latest.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Steward handles every change</a:t>
            </a:r>
          </a:p>
        </p:txBody>
      </p:sp>
      <p:sp>
        <p:nvSpPr>
          <p:cNvPr id="3" name="step-1"/>
          <p:cNvSpPr/>
          <p:nvPr/>
        </p:nvSpPr>
        <p:spPr>
          <a:xfrm>
            <a:off x="411480" y="1417320"/>
            <a:ext cx="1097280" cy="11430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tep-1-text"/>
          <p:cNvSpPr txBox="1"/>
          <p:nvPr/>
        </p:nvSpPr>
        <p:spPr>
          <a:xfrm>
            <a:off x="502920" y="1527048"/>
            <a:ext cx="914400" cy="914400"/>
          </a:xfrm>
          <a:prstGeom prst="rect">
            <a:avLst/>
          </a:prstGeom>
          <a:noFill/>
        </p:spPr>
        <p:txBody>
          <a:bodyPr wrap="square" anchor="t" lIns="0" rIns="0" tIns="0" bIns="0">
            <a:spAutoFit/>
          </a:bodyPr>
          <a:lstStyle/>
          <a:p>
            <a:pPr algn="l">
              <a:spcAft>
                <a:spcPts val="400"/>
              </a:spcAft>
            </a:pPr>
            <a:r>
              <a:rPr sz="1800" b="1">
                <a:solidFill>
                  <a:srgbClr val="1A1FD1"/>
                </a:solidFill>
                <a:latin typeface="Arial"/>
              </a:rPr>
              <a:t>1</a:t>
            </a:r>
          </a:p>
          <a:p>
            <a:pPr algn="l">
              <a:spcAft>
                <a:spcPts val="400"/>
              </a:spcAft>
            </a:pPr>
            <a:r>
              <a:rPr sz="1100" b="0">
                <a:solidFill>
                  <a:srgbClr val="212121"/>
                </a:solidFill>
                <a:latin typeface="Arial"/>
              </a:rPr>
              <a:t>Scope guard</a:t>
            </a:r>
          </a:p>
        </p:txBody>
      </p:sp>
      <p:sp>
        <p:nvSpPr>
          <p:cNvPr id="5" name="step-2"/>
          <p:cNvSpPr/>
          <p:nvPr/>
        </p:nvSpPr>
        <p:spPr>
          <a:xfrm>
            <a:off x="1618487" y="1417320"/>
            <a:ext cx="1097280" cy="11430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tep-2-text"/>
          <p:cNvSpPr txBox="1"/>
          <p:nvPr/>
        </p:nvSpPr>
        <p:spPr>
          <a:xfrm>
            <a:off x="1709928" y="1527048"/>
            <a:ext cx="914400" cy="914400"/>
          </a:xfrm>
          <a:prstGeom prst="rect">
            <a:avLst/>
          </a:prstGeom>
          <a:noFill/>
        </p:spPr>
        <p:txBody>
          <a:bodyPr wrap="square" anchor="t" lIns="0" rIns="0" tIns="0" bIns="0">
            <a:spAutoFit/>
          </a:bodyPr>
          <a:lstStyle/>
          <a:p>
            <a:pPr algn="l">
              <a:spcAft>
                <a:spcPts val="400"/>
              </a:spcAft>
            </a:pPr>
            <a:r>
              <a:rPr sz="1800" b="1">
                <a:solidFill>
                  <a:srgbClr val="1A1FD1"/>
                </a:solidFill>
                <a:latin typeface="Arial"/>
              </a:rPr>
              <a:t>2</a:t>
            </a:r>
          </a:p>
          <a:p>
            <a:pPr algn="l">
              <a:spcAft>
                <a:spcPts val="400"/>
              </a:spcAft>
            </a:pPr>
            <a:r>
              <a:rPr sz="1100" b="0">
                <a:solidFill>
                  <a:srgbClr val="212121"/>
                </a:solidFill>
                <a:latin typeface="Arial"/>
              </a:rPr>
              <a:t>Look up the target</a:t>
            </a:r>
          </a:p>
        </p:txBody>
      </p:sp>
      <p:sp>
        <p:nvSpPr>
          <p:cNvPr id="7" name="step-3"/>
          <p:cNvSpPr/>
          <p:nvPr/>
        </p:nvSpPr>
        <p:spPr>
          <a:xfrm>
            <a:off x="2825496" y="1417320"/>
            <a:ext cx="1097280" cy="1143000"/>
          </a:xfrm>
          <a:prstGeom prst="roundRect">
            <a:avLst>
              <a:gd name="adj" fmla="val 8000"/>
            </a:avLst>
          </a:prstGeom>
          <a:solidFill>
            <a:srgbClr val="1A1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step-3-text"/>
          <p:cNvSpPr txBox="1"/>
          <p:nvPr/>
        </p:nvSpPr>
        <p:spPr>
          <a:xfrm>
            <a:off x="2916936" y="1527048"/>
            <a:ext cx="914400" cy="914400"/>
          </a:xfrm>
          <a:prstGeom prst="rect">
            <a:avLst/>
          </a:prstGeom>
          <a:noFill/>
        </p:spPr>
        <p:txBody>
          <a:bodyPr wrap="square" anchor="t" lIns="0" rIns="0" tIns="0" bIns="0">
            <a:spAutoFit/>
          </a:bodyPr>
          <a:lstStyle/>
          <a:p>
            <a:pPr algn="l">
              <a:spcAft>
                <a:spcPts val="400"/>
              </a:spcAft>
            </a:pPr>
            <a:r>
              <a:rPr sz="1800" b="1">
                <a:solidFill>
                  <a:srgbClr val="FFFFFF"/>
                </a:solidFill>
                <a:latin typeface="Arial"/>
              </a:rPr>
              <a:t>3</a:t>
            </a:r>
          </a:p>
          <a:p>
            <a:pPr algn="l">
              <a:spcAft>
                <a:spcPts val="400"/>
              </a:spcAft>
            </a:pPr>
            <a:r>
              <a:rPr sz="1100" b="0">
                <a:solidFill>
                  <a:srgbClr val="FFFFFF"/>
                </a:solidFill>
                <a:latin typeface="Arial"/>
              </a:rPr>
              <a:t>Check with the validator copy</a:t>
            </a:r>
          </a:p>
        </p:txBody>
      </p:sp>
      <p:sp>
        <p:nvSpPr>
          <p:cNvPr id="9" name="step-4"/>
          <p:cNvSpPr/>
          <p:nvPr/>
        </p:nvSpPr>
        <p:spPr>
          <a:xfrm>
            <a:off x="4032503" y="1417320"/>
            <a:ext cx="1097280" cy="11430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tep-4-text"/>
          <p:cNvSpPr txBox="1"/>
          <p:nvPr/>
        </p:nvSpPr>
        <p:spPr>
          <a:xfrm>
            <a:off x="4123943" y="1527048"/>
            <a:ext cx="914400" cy="914400"/>
          </a:xfrm>
          <a:prstGeom prst="rect">
            <a:avLst/>
          </a:prstGeom>
          <a:noFill/>
        </p:spPr>
        <p:txBody>
          <a:bodyPr wrap="square" anchor="t" lIns="0" rIns="0" tIns="0" bIns="0">
            <a:spAutoFit/>
          </a:bodyPr>
          <a:lstStyle/>
          <a:p>
            <a:pPr algn="l">
              <a:spcAft>
                <a:spcPts val="400"/>
              </a:spcAft>
            </a:pPr>
            <a:r>
              <a:rPr sz="1800" b="1">
                <a:solidFill>
                  <a:srgbClr val="1A1FD1"/>
                </a:solidFill>
                <a:latin typeface="Arial"/>
              </a:rPr>
              <a:t>4</a:t>
            </a:r>
          </a:p>
          <a:p>
            <a:pPr algn="l">
              <a:spcAft>
                <a:spcPts val="400"/>
              </a:spcAft>
            </a:pPr>
            <a:r>
              <a:rPr sz="1100" b="0">
                <a:solidFill>
                  <a:srgbClr val="212121"/>
                </a:solidFill>
                <a:latin typeface="Arial"/>
              </a:rPr>
              <a:t>Ask when it matters</a:t>
            </a:r>
          </a:p>
        </p:txBody>
      </p:sp>
      <p:sp>
        <p:nvSpPr>
          <p:cNvPr id="11" name="step-5"/>
          <p:cNvSpPr/>
          <p:nvPr/>
        </p:nvSpPr>
        <p:spPr>
          <a:xfrm>
            <a:off x="5239512" y="1417320"/>
            <a:ext cx="1097280" cy="11430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tep-5-text"/>
          <p:cNvSpPr txBox="1"/>
          <p:nvPr/>
        </p:nvSpPr>
        <p:spPr>
          <a:xfrm>
            <a:off x="5330951" y="1527048"/>
            <a:ext cx="914400" cy="914400"/>
          </a:xfrm>
          <a:prstGeom prst="rect">
            <a:avLst/>
          </a:prstGeom>
          <a:noFill/>
        </p:spPr>
        <p:txBody>
          <a:bodyPr wrap="square" anchor="t" lIns="0" rIns="0" tIns="0" bIns="0">
            <a:spAutoFit/>
          </a:bodyPr>
          <a:lstStyle/>
          <a:p>
            <a:pPr algn="l">
              <a:spcAft>
                <a:spcPts val="400"/>
              </a:spcAft>
            </a:pPr>
            <a:r>
              <a:rPr sz="1800" b="1">
                <a:solidFill>
                  <a:srgbClr val="1A1FD1"/>
                </a:solidFill>
                <a:latin typeface="Arial"/>
              </a:rPr>
              <a:t>5</a:t>
            </a:r>
          </a:p>
          <a:p>
            <a:pPr algn="l">
              <a:spcAft>
                <a:spcPts val="400"/>
              </a:spcAft>
            </a:pPr>
            <a:r>
              <a:rPr sz="1100" b="0">
                <a:solidFill>
                  <a:srgbClr val="212121"/>
                </a:solidFill>
                <a:latin typeface="Arial"/>
              </a:rPr>
              <a:t>Send the action</a:t>
            </a:r>
          </a:p>
        </p:txBody>
      </p:sp>
      <p:sp>
        <p:nvSpPr>
          <p:cNvPr id="13" name="step-6"/>
          <p:cNvSpPr/>
          <p:nvPr/>
        </p:nvSpPr>
        <p:spPr>
          <a:xfrm>
            <a:off x="6446520" y="1417320"/>
            <a:ext cx="1097280" cy="1143000"/>
          </a:xfrm>
          <a:prstGeom prst="roundRect">
            <a:avLst>
              <a:gd name="adj" fmla="val 8000"/>
            </a:avLst>
          </a:prstGeom>
          <a:solidFill>
            <a:srgbClr val="1A1F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tep-6-text"/>
          <p:cNvSpPr txBox="1"/>
          <p:nvPr/>
        </p:nvSpPr>
        <p:spPr>
          <a:xfrm>
            <a:off x="6537959" y="1527048"/>
            <a:ext cx="914400" cy="914400"/>
          </a:xfrm>
          <a:prstGeom prst="rect">
            <a:avLst/>
          </a:prstGeom>
          <a:noFill/>
        </p:spPr>
        <p:txBody>
          <a:bodyPr wrap="square" anchor="t" lIns="0" rIns="0" tIns="0" bIns="0">
            <a:spAutoFit/>
          </a:bodyPr>
          <a:lstStyle/>
          <a:p>
            <a:pPr algn="l">
              <a:spcAft>
                <a:spcPts val="400"/>
              </a:spcAft>
            </a:pPr>
            <a:r>
              <a:rPr sz="1800" b="1">
                <a:solidFill>
                  <a:srgbClr val="FFFFFF"/>
                </a:solidFill>
                <a:latin typeface="Arial"/>
              </a:rPr>
              <a:t>6</a:t>
            </a:r>
          </a:p>
          <a:p>
            <a:pPr algn="l">
              <a:spcAft>
                <a:spcPts val="400"/>
              </a:spcAft>
            </a:pPr>
            <a:r>
              <a:rPr sz="1100" b="0">
                <a:solidFill>
                  <a:srgbClr val="FFFFFF"/>
                </a:solidFill>
                <a:latin typeface="Arial"/>
              </a:rPr>
              <a:t>Read the workspace back</a:t>
            </a:r>
          </a:p>
        </p:txBody>
      </p:sp>
      <p:sp>
        <p:nvSpPr>
          <p:cNvPr id="15" name="step-7"/>
          <p:cNvSpPr/>
          <p:nvPr/>
        </p:nvSpPr>
        <p:spPr>
          <a:xfrm>
            <a:off x="7653527" y="1417320"/>
            <a:ext cx="1097280" cy="114300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tep-7-text"/>
          <p:cNvSpPr txBox="1"/>
          <p:nvPr/>
        </p:nvSpPr>
        <p:spPr>
          <a:xfrm>
            <a:off x="7744967" y="1527048"/>
            <a:ext cx="914400" cy="914400"/>
          </a:xfrm>
          <a:prstGeom prst="rect">
            <a:avLst/>
          </a:prstGeom>
          <a:noFill/>
        </p:spPr>
        <p:txBody>
          <a:bodyPr wrap="square" anchor="t" lIns="0" rIns="0" tIns="0" bIns="0">
            <a:spAutoFit/>
          </a:bodyPr>
          <a:lstStyle/>
          <a:p>
            <a:pPr algn="l">
              <a:spcAft>
                <a:spcPts val="400"/>
              </a:spcAft>
            </a:pPr>
            <a:r>
              <a:rPr sz="1800" b="1">
                <a:solidFill>
                  <a:srgbClr val="1A1FD1"/>
                </a:solidFill>
                <a:latin typeface="Arial"/>
              </a:rPr>
              <a:t>7</a:t>
            </a:r>
          </a:p>
          <a:p>
            <a:pPr algn="l">
              <a:spcAft>
                <a:spcPts val="400"/>
              </a:spcAft>
            </a:pPr>
            <a:r>
              <a:rPr sz="1100" b="0">
                <a:solidFill>
                  <a:srgbClr val="212121"/>
                </a:solidFill>
                <a:latin typeface="Arial"/>
              </a:rPr>
              <a:t>IDE validator, rollback if rejected</a:t>
            </a:r>
          </a:p>
        </p:txBody>
      </p:sp>
      <p:sp>
        <p:nvSpPr>
          <p:cNvPr id="17" name="how-left"/>
          <p:cNvSpPr txBox="1"/>
          <p:nvPr/>
        </p:nvSpPr>
        <p:spPr>
          <a:xfrm>
            <a:off x="411480" y="2834640"/>
            <a:ext cx="4023360" cy="1554480"/>
          </a:xfrm>
          <a:prstGeom prst="rect">
            <a:avLst/>
          </a:prstGeom>
          <a:noFill/>
        </p:spPr>
        <p:txBody>
          <a:bodyPr wrap="square" anchor="t" lIns="0" rIns="0" tIns="0" bIns="0">
            <a:spAutoFit/>
          </a:bodyPr>
          <a:lstStyle/>
          <a:p>
            <a:pPr algn="l">
              <a:spcAft>
                <a:spcPts val="400"/>
              </a:spcAft>
            </a:pPr>
            <a:r>
              <a:rPr sz="1200" b="1">
                <a:solidFill>
                  <a:srgbClr val="1F2A6B"/>
                </a:solidFill>
                <a:latin typeface="Arial"/>
              </a:rPr>
              <a:t>The model handles language. </a:t>
            </a:r>
            <a:r>
              <a:rPr sz="1200" b="0">
                <a:solidFill>
                  <a:srgbClr val="212121"/>
                </a:solidFill>
                <a:latin typeface="Arial"/>
              </a:rPr>
              <a:t>It extracts intent and parameters; a builder emits the full profile, so it never hand-writes 40 typed fields.</a:t>
            </a:r>
          </a:p>
          <a:p>
            <a:pPr algn="l">
              <a:spcAft>
                <a:spcPts val="400"/>
              </a:spcAft>
            </a:pPr>
            <a:r>
              <a:rPr sz="1200" b="1">
                <a:solidFill>
                  <a:srgbClr val="1F2A6B"/>
                </a:solidFill>
                <a:latin typeface="Arial"/>
              </a:rPr>
              <a:t>Every change goes through one gate. </a:t>
            </a:r>
            <a:r>
              <a:rPr sz="1200" b="0">
                <a:solidFill>
                  <a:srgbClr val="212121"/>
                </a:solidFill>
                <a:latin typeface="Arial"/>
              </a:rPr>
              <a:t>Whatever the model says, these steps run in this order.</a:t>
            </a:r>
          </a:p>
        </p:txBody>
      </p:sp>
      <p:sp>
        <p:nvSpPr>
          <p:cNvPr id="18" name="how-right"/>
          <p:cNvSpPr txBox="1"/>
          <p:nvPr/>
        </p:nvSpPr>
        <p:spPr>
          <a:xfrm>
            <a:off x="4709160" y="2834640"/>
            <a:ext cx="4023360" cy="1554480"/>
          </a:xfrm>
          <a:prstGeom prst="rect">
            <a:avLst/>
          </a:prstGeom>
          <a:noFill/>
        </p:spPr>
        <p:txBody>
          <a:bodyPr wrap="square" anchor="t" lIns="0" rIns="0" tIns="0" bIns="0">
            <a:spAutoFit/>
          </a:bodyPr>
          <a:lstStyle/>
          <a:p>
            <a:pPr algn="l">
              <a:spcAft>
                <a:spcPts val="400"/>
              </a:spcAft>
            </a:pPr>
            <a:r>
              <a:rPr sz="1200" b="1">
                <a:solidFill>
                  <a:srgbClr val="1F2A6B"/>
                </a:solidFill>
                <a:latin typeface="Arial"/>
              </a:rPr>
              <a:t>Answers are grounded. </a:t>
            </a:r>
            <a:r>
              <a:rPr sz="1200" b="0">
                <a:solidFill>
                  <a:srgbClr val="212121"/>
                </a:solidFill>
                <a:latin typeface="Arial"/>
              </a:rPr>
              <a:t>Retrieval over the official tutorial, cookbook and D3.3/D4.2/D4.3 deliverables, with citations.</a:t>
            </a:r>
          </a:p>
          <a:p>
            <a:pPr algn="l">
              <a:spcAft>
                <a:spcPts val="400"/>
              </a:spcAft>
            </a:pPr>
            <a:r>
              <a:rPr sz="1200" b="1">
                <a:solidFill>
                  <a:srgbClr val="1F2A6B"/>
                </a:solidFill>
                <a:latin typeface="Arial"/>
              </a:rPr>
              <a:t>Receipts. </a:t>
            </a:r>
            <a:r>
              <a:rPr sz="1200" b="0">
                <a:solidFill>
                  <a:srgbClr val="212121"/>
                </a:solidFill>
                <a:latin typeface="Arial"/>
              </a:rPr>
              <a:t>/receipts/&lt;user&gt;/view shows each lookup, action, read-back, validator and model call.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Live in the official IDE</a:t>
            </a:r>
          </a:p>
        </p:txBody>
      </p:sp>
      <p:pic>
        <p:nvPicPr>
          <p:cNvPr id="3" name="ide-screenshot" descr="demo.png"/>
          <p:cNvPicPr>
            <a:picLocks noChangeAspect="1"/>
          </p:cNvPicPr>
          <p:nvPr/>
        </p:nvPicPr>
        <p:blipFill>
          <a:blip r:embed="rId2"/>
          <a:stretch>
            <a:fillRect/>
          </a:stretch>
        </p:blipFill>
        <p:spPr>
          <a:xfrm>
            <a:off x="411480" y="1143000"/>
            <a:ext cx="5467149" cy="3246120"/>
          </a:xfrm>
          <a:prstGeom prst="rect">
            <a:avLst/>
          </a:prstGeom>
          <a:ln w="9525">
            <a:solidFill>
              <a:srgbClr val="D0D4E4"/>
            </a:solidFill>
          </a:ln>
        </p:spPr>
      </p:pic>
      <p:sp>
        <p:nvSpPr>
          <p:cNvPr id="4" name="demo-notes"/>
          <p:cNvSpPr txBox="1"/>
          <p:nvPr/>
        </p:nvSpPr>
        <p:spPr>
          <a:xfrm>
            <a:off x="6355080" y="1188720"/>
            <a:ext cx="2423160" cy="3200400"/>
          </a:xfrm>
          <a:prstGeom prst="rect">
            <a:avLst/>
          </a:prstGeom>
          <a:noFill/>
        </p:spPr>
        <p:txBody>
          <a:bodyPr wrap="square" anchor="t" lIns="0" rIns="0" tIns="0" bIns="0">
            <a:spAutoFit/>
          </a:bodyPr>
          <a:lstStyle/>
          <a:p>
            <a:pPr algn="l">
              <a:spcAft>
                <a:spcPts val="400"/>
              </a:spcAft>
            </a:pPr>
            <a:r>
              <a:rPr sz="1200" b="1">
                <a:solidFill>
                  <a:srgbClr val="1F2A6B"/>
                </a:solidFill>
                <a:latin typeface="Arial"/>
              </a:rPr>
              <a:t>Off-topic: </a:t>
            </a:r>
            <a:r>
              <a:rPr sz="1200" b="0">
                <a:solidFill>
                  <a:srgbClr val="212121"/>
                </a:solidFill>
                <a:latin typeface="Arial"/>
              </a:rPr>
              <a:t>declined before any model call.</a:t>
            </a:r>
          </a:p>
          <a:p>
            <a:pPr algn="l">
              <a:spcAft>
                <a:spcPts val="400"/>
              </a:spcAft>
            </a:pPr>
            <a:r>
              <a:rPr sz="1200" b="1">
                <a:solidFill>
                  <a:srgbClr val="1F2A6B"/>
                </a:solidFill>
                <a:latin typeface="Arial"/>
              </a:rPr>
              <a:t>Check: </a:t>
            </a:r>
            <a:r>
              <a:rPr sz="1200" b="0">
                <a:solidFill>
                  <a:srgbClr val="212121"/>
                </a:solidFill>
                <a:latin typeface="Arial"/>
              </a:rPr>
              <a:t>the cookbook native example is valid but will not run (uvicorn in an nginx image).</a:t>
            </a:r>
          </a:p>
          <a:p>
            <a:pPr algn="l">
              <a:spcAft>
                <a:spcPts val="400"/>
              </a:spcAft>
            </a:pPr>
            <a:r>
              <a:rPr sz="1200" b="1">
                <a:solidFill>
                  <a:srgbClr val="1F2A6B"/>
                </a:solidFill>
                <a:latin typeface="Arial"/>
              </a:rPr>
              <a:t>Ambiguous name: </a:t>
            </a:r>
            <a:r>
              <a:rPr sz="1200" b="0">
                <a:solidFill>
                  <a:srgbClr val="212121"/>
                </a:solidFill>
                <a:latin typeface="Arial"/>
              </a:rPr>
              <a:t>lists both files and asks.</a:t>
            </a:r>
          </a:p>
          <a:p>
            <a:pPr algn="l">
              <a:spcAft>
                <a:spcPts val="400"/>
              </a:spcAft>
            </a:pPr>
            <a:r>
              <a:rPr sz="1200" b="1">
                <a:solidFill>
                  <a:srgbClr val="1F2A6B"/>
                </a:solidFill>
                <a:latin typeface="Arial"/>
              </a:rPr>
              <a:t>Create, fix, undo: </a:t>
            </a:r>
            <a:r>
              <a:rPr sz="1200" b="0">
                <a:solidFill>
                  <a:srgbClr val="212121"/>
                </a:solidFill>
                <a:latin typeface="Arial"/>
              </a:rPr>
              <a:t>each change is read back before Steward says it happened.</a:t>
            </a:r>
          </a:p>
          <a:p>
            <a:pPr algn="l">
              <a:spcAft>
                <a:spcPts val="400"/>
              </a:spcAft>
            </a:pPr>
            <a:r>
              <a:rPr sz="1200" b="1">
                <a:solidFill>
                  <a:srgbClr val="1F2A6B"/>
                </a:solidFill>
                <a:latin typeface="Arial"/>
              </a:rPr>
              <a:t>Shown: </a:t>
            </a:r>
            <a:r>
              <a:rPr sz="1200" b="0">
                <a:solidFill>
                  <a:srgbClr val="595959"/>
                </a:solidFill>
                <a:latin typeface="Arial"/>
              </a:rPr>
              <a:t>the official create example, file opened in the editor. CI run with llama3.1 8B, 7/7.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five criteria</a:t>
            </a:r>
          </a:p>
        </p:txBody>
      </p:sp>
      <p:graphicFrame>
        <p:nvGraphicFramePr>
          <p:cNvPr id="3" name="Table 2"/>
          <p:cNvGraphicFramePr>
            <a:graphicFrameLocks noGrp="1"/>
          </p:cNvGraphicFramePr>
          <p:nvPr/>
        </p:nvGraphicFramePr>
        <p:xfrm>
          <a:off x="411480" y="1188720"/>
          <a:ext cx="8321040" cy="3108960"/>
        </p:xfrm>
        <a:graphic>
          <a:graphicData uri="http://schemas.openxmlformats.org/drawingml/2006/table">
            <a:tbl>
              <a:tblPr firstRow="1" bandRow="1">
                <a:tableStyleId>{5C22544A-7EE6-4342-B048-85BDC9FD1C3A}</a:tableStyleId>
              </a:tblPr>
              <a:tblGrid>
                <a:gridCol w="3017520"/>
                <a:gridCol w="2926080"/>
                <a:gridCol w="2377440"/>
              </a:tblGrid>
              <a:tr h="518160">
                <a:tc>
                  <a:txBody>
                    <a:bodyPr/>
                    <a:lstStyle/>
                    <a:p>
                      <a:r>
                        <a:rPr sz="1200" b="1">
                          <a:solidFill>
                            <a:srgbClr val="FFFFFF"/>
                          </a:solidFill>
                          <a:latin typeface="Arial"/>
                        </a:rPr>
                        <a:t>Criterion</a:t>
                      </a:r>
                    </a:p>
                  </a:txBody>
                  <a:tcPr marL="73152" marR="73152">
                    <a:solidFill>
                      <a:srgbClr val="1F2A6B"/>
                    </a:solidFill>
                  </a:tcPr>
                </a:tc>
                <a:tc>
                  <a:txBody>
                    <a:bodyPr/>
                    <a:lstStyle/>
                    <a:p>
                      <a:r>
                        <a:rPr sz="1200" b="1">
                          <a:solidFill>
                            <a:srgbClr val="FFFFFF"/>
                          </a:solidFill>
                          <a:latin typeface="Arial"/>
                        </a:rPr>
                        <a:t>Steward</a:t>
                      </a:r>
                    </a:p>
                  </a:txBody>
                  <a:tcPr marL="73152" marR="73152">
                    <a:solidFill>
                      <a:srgbClr val="1F2A6B"/>
                    </a:solidFill>
                  </a:tcPr>
                </a:tc>
                <a:tc>
                  <a:txBody>
                    <a:bodyPr/>
                    <a:lstStyle/>
                    <a:p>
                      <a:r>
                        <a:rPr sz="1200" b="1">
                          <a:solidFill>
                            <a:srgbClr val="FFFFFF"/>
                          </a:solidFill>
                          <a:latin typeface="Arial"/>
                        </a:rPr>
                        <a:t>Proof</a:t>
                      </a:r>
                    </a:p>
                  </a:txBody>
                  <a:tcPr marL="73152" marR="73152">
                    <a:solidFill>
                      <a:srgbClr val="1F2A6B"/>
                    </a:solidFill>
                  </a:tcPr>
                </a:tc>
              </a:tr>
              <a:tr h="518160">
                <a:tc>
                  <a:txBody>
                    <a:bodyPr/>
                    <a:lstStyle/>
                    <a:p>
                      <a:r>
                        <a:rPr sz="1100" b="1">
                          <a:solidFill>
                            <a:srgbClr val="1F2A6B"/>
                          </a:solidFill>
                          <a:latin typeface="Arial"/>
                        </a:rPr>
                        <a:t>1  /chat microservice: answers + NL to IDE actions</a:t>
                      </a:r>
                    </a:p>
                  </a:txBody>
                  <a:tcPr marL="73152" marR="73152">
                    <a:solidFill>
                      <a:srgbClr val="F1F3FA"/>
                    </a:solidFill>
                  </a:tcPr>
                </a:tc>
                <a:tc>
                  <a:txBody>
                    <a:bodyPr/>
                    <a:lstStyle/>
                    <a:p>
                      <a:r>
                        <a:rPr sz="1100" b="0">
                          <a:solidFill>
                            <a:srgbClr val="212121"/>
                          </a:solidFill>
                          <a:latin typeface="Arial"/>
                        </a:rPr>
                        <a:t>SSE contract of the starter; builder; read-back</a:t>
                      </a:r>
                    </a:p>
                  </a:txBody>
                  <a:tcPr marL="73152" marR="73152">
                    <a:solidFill>
                      <a:srgbClr val="F1F3FA"/>
                    </a:solidFill>
                  </a:tcPr>
                </a:tc>
                <a:tc>
                  <a:txBody>
                    <a:bodyPr/>
                    <a:lstStyle/>
                    <a:p>
                      <a:r>
                        <a:rPr sz="1100" b="0">
                          <a:solidFill>
                            <a:srgbClr val="212121"/>
                          </a:solidFill>
                          <a:latin typeface="Arial"/>
                        </a:rPr>
                        <a:t>CI: official images, browser-driven</a:t>
                      </a:r>
                    </a:p>
                  </a:txBody>
                  <a:tcPr marL="73152" marR="73152">
                    <a:solidFill>
                      <a:srgbClr val="F1F3FA"/>
                    </a:solidFill>
                  </a:tcPr>
                </a:tc>
              </a:tr>
              <a:tr h="518160">
                <a:tc>
                  <a:txBody>
                    <a:bodyPr/>
                    <a:lstStyle/>
                    <a:p>
                      <a:r>
                        <a:rPr sz="1100" b="1">
                          <a:solidFill>
                            <a:srgbClr val="1F2A6B"/>
                          </a:solidFill>
                          <a:latin typeface="Arial"/>
                        </a:rPr>
                        <a:t>2  Guardrails</a:t>
                      </a:r>
                    </a:p>
                  </a:txBody>
                  <a:tcPr marL="73152" marR="73152">
                    <a:solidFill>
                      <a:srgbClr val="FFFFFF"/>
                    </a:solidFill>
                  </a:tcPr>
                </a:tc>
                <a:tc>
                  <a:txBody>
                    <a:bodyPr/>
                    <a:lstStyle/>
                    <a:p>
                      <a:r>
                        <a:rPr sz="1100" b="0">
                          <a:solidFill>
                            <a:srgbClr val="212121"/>
                          </a:solidFill>
                          <a:latin typeface="Arial"/>
                        </a:rPr>
                        <a:t>Scope check before any model call</a:t>
                      </a:r>
                    </a:p>
                  </a:txBody>
                  <a:tcPr marL="73152" marR="73152">
                    <a:solidFill>
                      <a:srgbClr val="FFFFFF"/>
                    </a:solidFill>
                  </a:tcPr>
                </a:tc>
                <a:tc>
                  <a:txBody>
                    <a:bodyPr/>
                    <a:lstStyle/>
                    <a:p>
                      <a:r>
                        <a:rPr sz="1100" b="0">
                          <a:solidFill>
                            <a:srgbClr val="212121"/>
                          </a:solidFill>
                          <a:latin typeface="Arial"/>
                        </a:rPr>
                        <a:t>Tests; off-topic scenario</a:t>
                      </a:r>
                    </a:p>
                  </a:txBody>
                  <a:tcPr marL="73152" marR="73152">
                    <a:solidFill>
                      <a:srgbClr val="FFFFFF"/>
                    </a:solidFill>
                  </a:tcPr>
                </a:tc>
              </a:tr>
              <a:tr h="518160">
                <a:tc>
                  <a:txBody>
                    <a:bodyPr/>
                    <a:lstStyle/>
                    <a:p>
                      <a:r>
                        <a:rPr sz="1100" b="1">
                          <a:solidFill>
                            <a:srgbClr val="1F2A6B"/>
                          </a:solidFill>
                          <a:latin typeface="Arial"/>
                        </a:rPr>
                        <a:t>3  RAG on HYPER-AI docs</a:t>
                      </a:r>
                    </a:p>
                  </a:txBody>
                  <a:tcPr marL="73152" marR="73152">
                    <a:solidFill>
                      <a:srgbClr val="F1F3FA"/>
                    </a:solidFill>
                  </a:tcPr>
                </a:tc>
                <a:tc>
                  <a:txBody>
                    <a:bodyPr/>
                    <a:lstStyle/>
                    <a:p>
                      <a:r>
                        <a:rPr sz="1100" b="0">
                          <a:solidFill>
                            <a:srgbClr val="212121"/>
                          </a:solidFill>
                          <a:latin typeface="Arial"/>
                        </a:rPr>
                        <a:t>Official tutorial, cookbook, deliverables; cited</a:t>
                      </a:r>
                    </a:p>
                  </a:txBody>
                  <a:tcPr marL="73152" marR="73152">
                    <a:solidFill>
                      <a:srgbClr val="F1F3FA"/>
                    </a:solidFill>
                  </a:tcPr>
                </a:tc>
                <a:tc>
                  <a:txBody>
                    <a:bodyPr/>
                    <a:lstStyle/>
                    <a:p>
                      <a:r>
                        <a:rPr sz="1100" b="0">
                          <a:solidFill>
                            <a:srgbClr val="212121"/>
                          </a:solidFill>
                          <a:latin typeface="Arial"/>
                        </a:rPr>
                        <a:t>"What is HyperAI?" scenario</a:t>
                      </a:r>
                    </a:p>
                  </a:txBody>
                  <a:tcPr marL="73152" marR="73152">
                    <a:solidFill>
                      <a:srgbClr val="F1F3FA"/>
                    </a:solidFill>
                  </a:tcPr>
                </a:tc>
              </a:tr>
              <a:tr h="518160">
                <a:tc>
                  <a:txBody>
                    <a:bodyPr/>
                    <a:lstStyle/>
                    <a:p>
                      <a:r>
                        <a:rPr sz="1100" b="1">
                          <a:solidFill>
                            <a:srgbClr val="1F2A6B"/>
                          </a:solidFill>
                          <a:latin typeface="Arial"/>
                        </a:rPr>
                        <a:t>4  Session memory</a:t>
                      </a:r>
                    </a:p>
                  </a:txBody>
                  <a:tcPr marL="73152" marR="73152">
                    <a:solidFill>
                      <a:srgbClr val="FFFFFF"/>
                    </a:solidFill>
                  </a:tcPr>
                </a:tc>
                <a:tc>
                  <a:txBody>
                    <a:bodyPr/>
                    <a:lstStyle/>
                    <a:p>
                      <a:r>
                        <a:rPr sz="1100" b="0">
                          <a:solidFill>
                            <a:srgbClr val="212121"/>
                          </a:solidFill>
                          <a:latin typeface="Arial"/>
                        </a:rPr>
                        <a:t>Per user_id, sized to the 8k model</a:t>
                      </a:r>
                    </a:p>
                  </a:txBody>
                  <a:tcPr marL="73152" marR="73152">
                    <a:solidFill>
                      <a:srgbClr val="FFFFFF"/>
                    </a:solidFill>
                  </a:tcPr>
                </a:tc>
                <a:tc>
                  <a:txBody>
                    <a:bodyPr/>
                    <a:lstStyle/>
                    <a:p>
                      <a:r>
                        <a:rPr sz="1100" b="0">
                          <a:solidFill>
                            <a:srgbClr val="212121"/>
                          </a:solidFill>
                          <a:latin typeface="Arial"/>
                        </a:rPr>
                        <a:t>Tests</a:t>
                      </a:r>
                    </a:p>
                  </a:txBody>
                  <a:tcPr marL="73152" marR="73152">
                    <a:solidFill>
                      <a:srgbClr val="FFFFFF"/>
                    </a:solidFill>
                  </a:tcPr>
                </a:tc>
              </a:tr>
              <a:tr h="518160">
                <a:tc>
                  <a:txBody>
                    <a:bodyPr/>
                    <a:lstStyle/>
                    <a:p>
                      <a:r>
                        <a:rPr sz="1100" b="1">
                          <a:solidFill>
                            <a:srgbClr val="1F2A6B"/>
                          </a:solidFill>
                          <a:latin typeface="Arial"/>
                        </a:rPr>
                        <a:t>5  Human-in-the-loop (optional)</a:t>
                      </a:r>
                    </a:p>
                  </a:txBody>
                  <a:tcPr marL="73152" marR="73152">
                    <a:solidFill>
                      <a:srgbClr val="F1F3FA"/>
                    </a:solidFill>
                  </a:tcPr>
                </a:tc>
                <a:tc>
                  <a:txBody>
                    <a:bodyPr/>
                    <a:lstStyle/>
                    <a:p>
                      <a:r>
                        <a:rPr sz="1100" b="0">
                          <a:solidFill>
                            <a:srgbClr val="212121"/>
                          </a:solidFill>
                          <a:latin typeface="Arial"/>
                        </a:rPr>
                        <a:t>Confirm delete and overwrite; restore points; undo</a:t>
                      </a:r>
                    </a:p>
                  </a:txBody>
                  <a:tcPr marL="73152" marR="73152">
                    <a:solidFill>
                      <a:srgbClr val="F1F3FA"/>
                    </a:solidFill>
                  </a:tcPr>
                </a:tc>
                <a:tc>
                  <a:txBody>
                    <a:bodyPr/>
                    <a:lstStyle/>
                    <a:p>
                      <a:r>
                        <a:rPr sz="1100" b="0">
                          <a:solidFill>
                            <a:srgbClr val="212121"/>
                          </a:solidFill>
                          <a:latin typeface="Arial"/>
                        </a:rPr>
                        <a:t>Live slice: undo restores identical bytes</a:t>
                      </a:r>
                    </a:p>
                  </a:txBody>
                  <a:tcPr marL="73152" marR="73152">
                    <a:solidFill>
                      <a:srgbClr val="F1F3FA"/>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is proven, and what is not yet</a:t>
            </a:r>
          </a:p>
        </p:txBody>
      </p:sp>
      <p:sp>
        <p:nvSpPr>
          <p:cNvPr id="3" name="proven"/>
          <p:cNvSpPr/>
          <p:nvPr/>
        </p:nvSpPr>
        <p:spPr>
          <a:xfrm>
            <a:off x="411480" y="1188720"/>
            <a:ext cx="4023360" cy="265176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roven-text"/>
          <p:cNvSpPr txBox="1"/>
          <p:nvPr/>
        </p:nvSpPr>
        <p:spPr>
          <a:xfrm>
            <a:off x="594360" y="1325880"/>
            <a:ext cx="3657600" cy="2926080"/>
          </a:xfrm>
          <a:prstGeom prst="rect">
            <a:avLst/>
          </a:prstGeom>
          <a:noFill/>
        </p:spPr>
        <p:txBody>
          <a:bodyPr wrap="square" anchor="t" lIns="0" rIns="0" tIns="0" bIns="0">
            <a:spAutoFit/>
          </a:bodyPr>
          <a:lstStyle/>
          <a:p>
            <a:pPr algn="l">
              <a:spcAft>
                <a:spcPts val="400"/>
              </a:spcAft>
            </a:pPr>
            <a:r>
              <a:rPr sz="1600" b="1">
                <a:solidFill>
                  <a:srgbClr val="1E7A4F"/>
                </a:solidFill>
                <a:latin typeface="Arial"/>
              </a:rPr>
              <a:t>Proven</a:t>
            </a:r>
          </a:p>
          <a:p>
            <a:pPr algn="l">
              <a:spcAft>
                <a:spcPts val="400"/>
              </a:spcAft>
            </a:pPr>
            <a:r>
              <a:rPr sz="1200" b="0">
                <a:solidFill>
                  <a:srgbClr val="212121"/>
                </a:solidFill>
                <a:latin typeface="Arial"/>
              </a:rPr>
              <a:t>Validator parity with the real code (CI, official image)</a:t>
            </a:r>
          </a:p>
          <a:p>
            <a:pPr algn="l">
              <a:spcAft>
                <a:spcPts val="400"/>
              </a:spcAft>
            </a:pPr>
            <a:r>
              <a:rPr sz="1200" b="0">
                <a:solidFill>
                  <a:srgbClr val="212121"/>
                </a:solidFill>
                <a:latin typeface="Arial"/>
              </a:rPr>
              <a:t>Create, 409 ambiguity, invalid profile stopped, delete, undo against the official backend image</a:t>
            </a:r>
          </a:p>
          <a:p>
            <a:pPr algn="l">
              <a:spcAft>
                <a:spcPts val="400"/>
              </a:spcAft>
            </a:pPr>
            <a:r>
              <a:rPr sz="1200" b="0">
                <a:solidFill>
                  <a:srgbClr val="212121"/>
                </a:solidFill>
                <a:latin typeface="Arial"/>
              </a:rPr>
              <a:t>The official GUI in a browser: guardrail, check, ambiguity</a:t>
            </a:r>
          </a:p>
          <a:p>
            <a:pPr algn="l">
              <a:spcAft>
                <a:spcPts val="400"/>
              </a:spcAft>
            </a:pPr>
            <a:r>
              <a:rPr sz="1200" b="0">
                <a:solidFill>
                  <a:srgbClr val="212121"/>
                </a:solidFill>
                <a:latin typeface="Arial"/>
              </a:rPr>
              <a:t>llama3.1 8B (the model family the organisers serve) in the official GUI, CI</a:t>
            </a:r>
          </a:p>
        </p:txBody>
      </p:sp>
      <p:sp>
        <p:nvSpPr>
          <p:cNvPr id="5" name="not-yet"/>
          <p:cNvSpPr/>
          <p:nvPr/>
        </p:nvSpPr>
        <p:spPr>
          <a:xfrm>
            <a:off x="4709160" y="1188720"/>
            <a:ext cx="4023360" cy="2651760"/>
          </a:xfrm>
          <a:prstGeom prst="roundRect">
            <a:avLst>
              <a:gd name="adj" fmla="val 8000"/>
            </a:avLst>
          </a:prstGeom>
          <a:solidFill>
            <a:srgbClr val="F1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not-yet-text"/>
          <p:cNvSpPr txBox="1"/>
          <p:nvPr/>
        </p:nvSpPr>
        <p:spPr>
          <a:xfrm>
            <a:off x="4892040" y="1325880"/>
            <a:ext cx="3657600" cy="2926080"/>
          </a:xfrm>
          <a:prstGeom prst="rect">
            <a:avLst/>
          </a:prstGeom>
          <a:noFill/>
        </p:spPr>
        <p:txBody>
          <a:bodyPr wrap="square" anchor="t" lIns="0" rIns="0" tIns="0" bIns="0">
            <a:spAutoFit/>
          </a:bodyPr>
          <a:lstStyle/>
          <a:p>
            <a:pPr algn="l">
              <a:spcAft>
                <a:spcPts val="400"/>
              </a:spcAft>
            </a:pPr>
            <a:r>
              <a:rPr sz="1600" b="1">
                <a:solidFill>
                  <a:srgbClr val="B3261E"/>
                </a:solidFill>
                <a:latin typeface="Arial"/>
              </a:rPr>
              <a:t>Not yet</a:t>
            </a:r>
          </a:p>
          <a:p>
            <a:pPr algn="l">
              <a:spcAft>
                <a:spcPts val="400"/>
              </a:spcAft>
            </a:pPr>
            <a:r>
              <a:rPr sz="1200" b="0">
                <a:solidFill>
                  <a:srgbClr val="212121"/>
                </a:solidFill>
                <a:latin typeface="Arial"/>
              </a:rPr>
              <a:t>Answer quality on the organisers' server (legion1) not measured before submission</a:t>
            </a:r>
          </a:p>
          <a:p>
            <a:pPr algn="l">
              <a:spcAft>
                <a:spcPts val="400"/>
              </a:spcAft>
            </a:pPr>
            <a:r>
              <a:rPr sz="1200" b="0">
                <a:solidFill>
                  <a:srgbClr val="212121"/>
                </a:solidFill>
                <a:latin typeface="Arial"/>
              </a:rPr>
              <a:t>Runnability findings are rules, not a deployment on HYPER-AI</a:t>
            </a:r>
          </a:p>
          <a:p>
            <a:pPr algn="l">
              <a:spcAft>
                <a:spcPts val="400"/>
              </a:spcAft>
            </a:pPr>
            <a:r>
              <a:rPr sz="1200" b="0">
                <a:solidFill>
                  <a:srgbClr val="212121"/>
                </a:solidFill>
                <a:latin typeface="Arial"/>
              </a:rPr>
              <a:t>Steward cannot deploy; the IDE's Deploy button does</a:t>
            </a:r>
          </a:p>
          <a:p>
            <a:pPr algn="l">
              <a:spcAft>
                <a:spcPts val="400"/>
              </a:spcAft>
            </a:pPr>
            <a:r>
              <a:rPr sz="1200" b="0">
                <a:solidFill>
                  <a:srgbClr val="212121"/>
                </a:solidFill>
                <a:latin typeface="Arial"/>
              </a:rPr>
              <a:t>Built during the hackathon by an autonomous agent; every claim is labelled in the repo</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Anastasios Zafeiropoulos</dc:creator>
</cp:coreProperties>
</file>