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9"/>
    <p:sldId id="261" r:id="rId20"/>
    <p:sldId id="262" r:id="rId21"/>
    <p:sldId id="263" r:id="rId22"/>
    <p:sldId id="264" r:id="rId23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pBOD1wnFu5Ox5hv3wUcSwmDx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Roboto-regular.fntdata"/><Relationship Id="rId11" Type="http://schemas.openxmlformats.org/officeDocument/2006/relationships/font" Target="fonts/Roboto-bold.fntdata"/><Relationship Id="rId12" Type="http://schemas.openxmlformats.org/officeDocument/2006/relationships/font" Target="fonts/Roboto-italic.fntdata"/><Relationship Id="rId13" Type="http://schemas.openxmlformats.org/officeDocument/2006/relationships/font" Target="fonts/Roboto-boldItalic.fntdata"/><Relationship Id="rId14" Type="http://schemas.openxmlformats.org/officeDocument/2006/relationships/font" Target="fonts/RobotoMedium-regular.fntdata"/><Relationship Id="rId15" Type="http://schemas.openxmlformats.org/officeDocument/2006/relationships/font" Target="fonts/RobotoMedium-bold.fntdata"/><Relationship Id="rId16" Type="http://schemas.openxmlformats.org/officeDocument/2006/relationships/font" Target="fonts/RobotoMedium-italic.fntdata"/><Relationship Id="rId17" Type="http://schemas.openxmlformats.org/officeDocument/2006/relationships/font" Target="fonts/RobotoMedium-boldItalic.fntdata"/><Relationship Id="rId18" Type="http://customschemas.google.com/relationships/presentationmetadata" Target="metadata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Hyperion Steward is our Hyperion agent for the HYPER-AI IDE. One sentence: it only tells you something happened once it has seen it happen in your workspace.</a:t>
            </a:r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Repo, image, how to run it. Defaults match the starter: legion1, llama3.1, API_KEY.</a:t>
            </a:r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96137532f5a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What it is, what we found, what it does about it. The screenshot is the official IDE, run from the organisers' images in CI, with a browser typing into the Hyperion panel.</a:t>
            </a:r>
          </a:p>
        </p:txBody>
      </p:sp>
      <p:sp>
        <p:nvSpPr>
          <p:cNvPr id="56" name="Google Shape;56;h2296137532f5a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96137532f5a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Four numbers. Zero disagreements with the real validator. Nine out of nine safety scenarios against one out of nine for a naive agent, with identical tool calls. Zero false claims against five. Six of six steps live against the official backend image.</a:t>
            </a:r>
          </a:p>
        </p:txBody>
      </p:sp>
      <p:sp>
        <p:nvSpPr>
          <p:cNvPr id="63" name="Google Shape;63;h2296137532f5a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ran the organisers' images and read their code. Three facts. One: actions are fire-and-forget. Two: plenty of them silently do nothing, and the tutorial even describes a behaviour the shipped GUI does not have. Three: nothing validates a profile unless someone asks. So a straightforward agent tells users it did things it did not do.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gate for every change. The two highlighted steps are what we added after reading the IDE: a validator copy proven identical to the real one, and a read-back that turns a fire-and-forget action into a verified one.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 in the official IDE (or this recording from CI).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official criterion, how Steward meets it, and where it is proven.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proven and what is not. Every claim in the repo carries its evidence class.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9pPr>
          </a:lstStyle>
          <a:p/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858" y="4726170"/>
            <a:ext cx="1407814" cy="3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i="0" sz="2400" u="none" cap="none" strike="noStrike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 rot="-5400000">
            <a:off x="2158615" y="-2137275"/>
            <a:ext cx="86897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2">
            <a:alphaModFix amt="11000"/>
          </a:blip>
          <a:srcRect b="4935" l="0" r="0" t="17694"/>
          <a:stretch/>
        </p:blipFill>
        <p:spPr>
          <a:xfrm rot="-5400000">
            <a:off x="6719951" y="-1555100"/>
            <a:ext cx="868950" cy="3979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 rot="5400000">
            <a:off x="4113300" y="-4111500"/>
            <a:ext cx="917400" cy="9140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46A"/>
              </a:buClr>
              <a:buSzPts val="2400"/>
              <a:buFont typeface="Roboto"/>
              <a:buNone/>
              <a:defRPr b="1" sz="2400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3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0" y="2220966"/>
            <a:ext cx="9142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rPr lang="en"/>
              <a:t>Hyperion Steward</a:t>
            </a:r>
            <a:endParaRPr/>
          </a:p>
        </p:txBody>
      </p:sp>
      <p:sp>
        <p:nvSpPr>
          <p:cNvPr id="46" name="Google Shape;46;p1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rPr sz="1600">
                <a:solidFill>
                  <a:srgbClr val="FFFFFF"/>
                </a:solidFill>
              </a:rPr>
              <a:t>Challenge 1 · HYPER-AI  |  says done only once it has seen it done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GitHub repo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b="1" sz="1400">
                <a:solidFill>
                  <a:srgbClr val="1F2A6B"/>
                </a:solidFill>
              </a:rPr>
              <a:t>GitHub repo: </a:t>
            </a:r>
            <a:r>
              <a:rPr sz="1400">
                <a:solidFill>
                  <a:srgbClr val="212121"/>
                </a:solidFill>
              </a:rPr>
              <a:t>github.com/Faadil1/veles-hack-2026</a:t>
            </a:r>
            <a:endParaRPr/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A6B"/>
                </a:solidFill>
              </a:rPr>
              <a:t>Docker image: </a:t>
            </a:r>
            <a:r>
              <a:rPr sz="1400">
                <a:solidFill>
                  <a:srgbClr val="212121"/>
                </a:solidFill>
              </a:rPr>
              <a:t>faadil12/hyperion:latest  (exposes :8000/chat)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A6B"/>
                </a:solidFill>
              </a:rPr>
              <a:t>Run: </a:t>
            </a:r>
            <a:r>
              <a:rPr sz="1400">
                <a:solidFill>
                  <a:srgbClr val="212121"/>
                </a:solidFill>
              </a:rPr>
              <a:t>docker run -p 8000:8000 --add-host host.docker.internal:host-gateway -e API_KEY=&lt;key&gt; faadil12/hyperion:latest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A6B"/>
                </a:solidFill>
              </a:rPr>
              <a:t>Licence: </a:t>
            </a:r>
            <a:r>
              <a:rPr sz="1400">
                <a:solidFill>
                  <a:srgbClr val="212121"/>
                </a:solidFill>
              </a:rPr>
              <a:t>Apache-2.0, as in the official hyperion-starter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A6B"/>
                </a:solidFill>
              </a:rPr>
              <a:t>Evidence: </a:t>
            </a:r>
            <a:r>
              <a:rPr sz="1400">
                <a:solidFill>
                  <a:srgbClr val="212121"/>
                </a:solidFill>
              </a:rPr>
              <a:t>CI reports on the ci-evidence branch (official IDE images, digests recorded)</a:t>
            </a:r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10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296137532f5af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9" name="Google Shape;59;h2296137532f5afa_0_0"/>
          <p:cNvSpPr txBox="1"/>
          <p:nvPr>
            <p:ph idx="1" type="body"/>
          </p:nvPr>
        </p:nvSpPr>
        <p:spPr>
          <a:xfrm>
            <a:off x="311700" y="1152475"/>
            <a:ext cx="420624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400"/>
              <a:buChar char="●"/>
            </a:pPr>
            <a:r>
              <a:rPr sz="1300">
                <a:solidFill>
                  <a:srgbClr val="212121"/>
                </a:solidFill>
              </a:rPr>
              <a:t>A drop-in /chat microservice for the HYPER-AI IDE: answers HYPER-AI questions from the official documents and turns plain language into IDE actions.</a:t>
            </a:r>
            <a:endParaRPr/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</a:rPr>
              <a:t>We read the IDE the judges run, not only its tutorial. Its actions are fire-and-forget: a naive agent says done when nothing happened.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121"/>
                </a:solidFill>
              </a:rPr>
              <a:t>Steward checks every profile with an exact copy of the IDE validator, then reads the workspace back and only claims what it saw. Deletes always ask; overwrites ask unless you named the file or Steward created it; file changes can be undone (a folder delete cannot).</a:t>
            </a:r>
          </a:p>
        </p:txBody>
      </p:sp>
      <p:sp>
        <p:nvSpPr>
          <p:cNvPr id="60" name="Google Shape;60;h2296137532f5afa_0_0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" name="panel-screenshot" descr="crop-03-ambiguous-1085-6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25880"/>
            <a:ext cx="3931920" cy="1426285"/>
          </a:xfrm>
          <a:prstGeom prst="rect">
            <a:avLst/>
          </a:prstGeom>
          <a:ln w="9525">
            <a:solidFill>
              <a:srgbClr val="D0D4E4"/>
            </a:solidFill>
          </a:ln>
        </p:spPr>
      </p:pic>
      <p:sp>
        <p:nvSpPr>
          <p:cNvPr id="62" name="text"/>
          <p:cNvSpPr txBox="1"/>
          <p:nvPr/>
        </p:nvSpPr>
        <p:spPr>
          <a:xfrm>
            <a:off x="4846320" y="28803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The official IDE (organisers' GUI and backend images), a browser typing into the Hyperion panel in 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296137532f5af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Highlights</a:t>
            </a:r>
            <a:endParaRPr/>
          </a:p>
        </p:txBody>
      </p:sp>
      <p:sp>
        <p:nvSpPr>
          <p:cNvPr id="67" name="Google Shape;67;h2296137532f5afa_0_6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stat-0"/>
          <p:cNvSpPr/>
          <p:nvPr/>
        </p:nvSpPr>
        <p:spPr>
          <a:xfrm>
            <a:off x="411480" y="12344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tat-0-value"/>
          <p:cNvSpPr txBox="1"/>
          <p:nvPr/>
        </p:nvSpPr>
        <p:spPr>
          <a:xfrm>
            <a:off x="576072" y="141732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F2A6B"/>
                </a:solidFill>
                <a:latin typeface="Arial"/>
              </a:rPr>
              <a:t>0</a:t>
            </a:r>
          </a:p>
        </p:txBody>
      </p:sp>
      <p:sp>
        <p:nvSpPr>
          <p:cNvPr id="70" name="stat-0-label"/>
          <p:cNvSpPr txBox="1"/>
          <p:nvPr/>
        </p:nvSpPr>
        <p:spPr>
          <a:xfrm>
            <a:off x="576072" y="2331720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disagreements with the IDE's own validator, over 5,536 test profiles</a:t>
            </a:r>
          </a:p>
        </p:txBody>
      </p:sp>
      <p:sp>
        <p:nvSpPr>
          <p:cNvPr id="71" name="stat-1"/>
          <p:cNvSpPr/>
          <p:nvPr/>
        </p:nvSpPr>
        <p:spPr>
          <a:xfrm>
            <a:off x="2532888" y="12344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tat-1-value"/>
          <p:cNvSpPr txBox="1"/>
          <p:nvPr/>
        </p:nvSpPr>
        <p:spPr>
          <a:xfrm>
            <a:off x="2697480" y="141732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7A4F"/>
                </a:solidFill>
                <a:latin typeface="Arial"/>
              </a:rPr>
              <a:t>9/9</a:t>
            </a:r>
          </a:p>
        </p:txBody>
      </p:sp>
      <p:sp>
        <p:nvSpPr>
          <p:cNvPr id="73" name="stat-1-label"/>
          <p:cNvSpPr txBox="1"/>
          <p:nvPr/>
        </p:nvSpPr>
        <p:spPr>
          <a:xfrm>
            <a:off x="2697480" y="2331720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safety scenarios handled correctly (same tool calls, stub mirroring the IDE). Naive agent: 1/9</a:t>
            </a:r>
          </a:p>
        </p:txBody>
      </p:sp>
      <p:sp>
        <p:nvSpPr>
          <p:cNvPr id="74" name="stat-2"/>
          <p:cNvSpPr/>
          <p:nvPr/>
        </p:nvSpPr>
        <p:spPr>
          <a:xfrm>
            <a:off x="4654296" y="12344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tat-2-value"/>
          <p:cNvSpPr txBox="1"/>
          <p:nvPr/>
        </p:nvSpPr>
        <p:spPr>
          <a:xfrm>
            <a:off x="4818888" y="141732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7A4F"/>
                </a:solidFill>
                <a:latin typeface="Arial"/>
              </a:rPr>
              <a:t>0</a:t>
            </a:r>
          </a:p>
        </p:txBody>
      </p:sp>
      <p:sp>
        <p:nvSpPr>
          <p:cNvPr id="76" name="stat-2-label"/>
          <p:cNvSpPr txBox="1"/>
          <p:nvPr/>
        </p:nvSpPr>
        <p:spPr>
          <a:xfrm>
            <a:off x="4818888" y="2331720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false "done" claims in the same scenarios. Naive agent: 5</a:t>
            </a:r>
          </a:p>
        </p:txBody>
      </p:sp>
      <p:sp>
        <p:nvSpPr>
          <p:cNvPr id="77" name="stat-3"/>
          <p:cNvSpPr/>
          <p:nvPr/>
        </p:nvSpPr>
        <p:spPr>
          <a:xfrm>
            <a:off x="6775703" y="12344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tat-3-value"/>
          <p:cNvSpPr txBox="1"/>
          <p:nvPr/>
        </p:nvSpPr>
        <p:spPr>
          <a:xfrm>
            <a:off x="6940295" y="141732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F2A6B"/>
                </a:solidFill>
                <a:latin typeface="Arial"/>
              </a:rPr>
              <a:t>6/6</a:t>
            </a:r>
          </a:p>
        </p:txBody>
      </p:sp>
      <p:sp>
        <p:nvSpPr>
          <p:cNvPr id="79" name="stat-3-label"/>
          <p:cNvSpPr txBox="1"/>
          <p:nvPr/>
        </p:nvSpPr>
        <p:spPr>
          <a:xfrm>
            <a:off x="6940295" y="2331720"/>
            <a:ext cx="1645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live steps against the official backend image, every change verified by read-back</a:t>
            </a:r>
          </a:p>
        </p:txBody>
      </p:sp>
      <p:sp>
        <p:nvSpPr>
          <p:cNvPr id="80" name="text"/>
          <p:cNvSpPr txBox="1"/>
          <p:nvPr/>
        </p:nvSpPr>
        <p:spPr>
          <a:xfrm>
            <a:off x="411480" y="3840480"/>
            <a:ext cx="8321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Also: </a:t>
            </a:r>
            <a:r>
              <a:rPr sz="1200" b="0">
                <a:solidFill>
                  <a:srgbClr val="212121"/>
                </a:solidFill>
                <a:latin typeface="Arial"/>
              </a:rPr>
              <a:t>works without a model for the official example requests (create, delete, check, undo); plain-text replies because the panel does not render markdown; per-session memory sized to the provided 8k-token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 in the shipped IDE</a:t>
            </a:r>
          </a:p>
        </p:txBody>
      </p:sp>
      <p:sp>
        <p:nvSpPr>
          <p:cNvPr id="3" name="finding-1"/>
          <p:cNvSpPr/>
          <p:nvPr/>
        </p:nvSpPr>
        <p:spPr>
          <a:xfrm>
            <a:off x="411480" y="1234440"/>
            <a:ext cx="2633472" cy="274320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nding-1-badge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1A1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finding-1-head"/>
          <p:cNvSpPr txBox="1"/>
          <p:nvPr/>
        </p:nvSpPr>
        <p:spPr>
          <a:xfrm>
            <a:off x="594360" y="20116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A6B"/>
                </a:solidFill>
                <a:latin typeface="Arial"/>
              </a:rPr>
              <a:t>Actions are fire-and-forget</a:t>
            </a:r>
          </a:p>
        </p:txBody>
      </p:sp>
      <p:sp>
        <p:nvSpPr>
          <p:cNvPr id="6" name="finding-1-text"/>
          <p:cNvSpPr txBox="1"/>
          <p:nvPr/>
        </p:nvSpPr>
        <p:spPr>
          <a:xfrm>
            <a:off x="594360" y="2606040"/>
            <a:ext cx="22860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The GUI starts each action and never reports back. Failures only reach the status log.</a:t>
            </a:r>
          </a:p>
        </p:txBody>
      </p:sp>
      <p:sp>
        <p:nvSpPr>
          <p:cNvPr id="7" name="finding-2"/>
          <p:cNvSpPr/>
          <p:nvPr/>
        </p:nvSpPr>
        <p:spPr>
          <a:xfrm>
            <a:off x="3227832" y="1234440"/>
            <a:ext cx="2633472" cy="274320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nding-2-badge"/>
          <p:cNvSpPr/>
          <p:nvPr/>
        </p:nvSpPr>
        <p:spPr>
          <a:xfrm>
            <a:off x="3410712" y="1417320"/>
            <a:ext cx="457200" cy="457200"/>
          </a:xfrm>
          <a:prstGeom prst="ellipse">
            <a:avLst/>
          </a:prstGeom>
          <a:solidFill>
            <a:srgbClr val="1A1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inding-2-head"/>
          <p:cNvSpPr txBox="1"/>
          <p:nvPr/>
        </p:nvSpPr>
        <p:spPr>
          <a:xfrm>
            <a:off x="3410712" y="20116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A6B"/>
                </a:solidFill>
                <a:latin typeface="Arial"/>
              </a:rPr>
              <a:t>Many actions silently do nothing</a:t>
            </a:r>
          </a:p>
        </p:txBody>
      </p:sp>
      <p:sp>
        <p:nvSpPr>
          <p:cNvPr id="10" name="finding-2-text"/>
          <p:cNvSpPr txBox="1"/>
          <p:nvPr/>
        </p:nvSpPr>
        <p:spPr>
          <a:xfrm>
            <a:off x="3410712" y="2606040"/>
            <a:ext cx="22860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A name shared by two files, creating a file that exists, a closed IDE tab: no change, no signal. The tutorial says "first match"; the shipped GUI refuses instead.</a:t>
            </a:r>
          </a:p>
        </p:txBody>
      </p:sp>
      <p:sp>
        <p:nvSpPr>
          <p:cNvPr id="11" name="finding-3"/>
          <p:cNvSpPr/>
          <p:nvPr/>
        </p:nvSpPr>
        <p:spPr>
          <a:xfrm>
            <a:off x="6044184" y="1234440"/>
            <a:ext cx="2633472" cy="274320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inding-3-badge"/>
          <p:cNvSpPr/>
          <p:nvPr/>
        </p:nvSpPr>
        <p:spPr>
          <a:xfrm>
            <a:off x="6227064" y="1417320"/>
            <a:ext cx="457200" cy="457200"/>
          </a:xfrm>
          <a:prstGeom prst="ellipse">
            <a:avLst/>
          </a:prstGeom>
          <a:solidFill>
            <a:srgbClr val="1A1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finding-3-head"/>
          <p:cNvSpPr txBox="1"/>
          <p:nvPr/>
        </p:nvSpPr>
        <p:spPr>
          <a:xfrm>
            <a:off x="6227064" y="20116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A6B"/>
                </a:solidFill>
                <a:latin typeface="Arial"/>
              </a:rPr>
              <a:t>Nothing checks a profile unless asked</a:t>
            </a:r>
          </a:p>
        </p:txBody>
      </p:sp>
      <p:sp>
        <p:nvSpPr>
          <p:cNvPr id="14" name="finding-3-text"/>
          <p:cNvSpPr txBox="1"/>
          <p:nvPr/>
        </p:nvSpPr>
        <p:spPr>
          <a:xfrm>
            <a:off x="6227064" y="2606040"/>
            <a:ext cx="22860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Under YAML 1.2, isHighlyAvailable: no is a string and schemaVersion: 1.1 a number. Both are saved as is.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11480" y="4114800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Source: the GUI bundle and backend code inside donmichael/ide-gui:latest and donmichael/ide-backend:latest.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Steward handles every change</a:t>
            </a:r>
          </a:p>
        </p:txBody>
      </p:sp>
      <p:sp>
        <p:nvSpPr>
          <p:cNvPr id="3" name="step-1"/>
          <p:cNvSpPr/>
          <p:nvPr/>
        </p:nvSpPr>
        <p:spPr>
          <a:xfrm>
            <a:off x="411480" y="1417320"/>
            <a:ext cx="1097280" cy="114300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ep-1-text"/>
          <p:cNvSpPr txBox="1"/>
          <p:nvPr/>
        </p:nvSpPr>
        <p:spPr>
          <a:xfrm>
            <a:off x="502920" y="1527048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FD1"/>
                </a:solidFill>
                <a:latin typeface="Arial"/>
              </a:rPr>
              <a:t>1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Scope guard</a:t>
            </a:r>
          </a:p>
        </p:txBody>
      </p:sp>
      <p:sp>
        <p:nvSpPr>
          <p:cNvPr id="5" name="step-2"/>
          <p:cNvSpPr/>
          <p:nvPr/>
        </p:nvSpPr>
        <p:spPr>
          <a:xfrm>
            <a:off x="1618487" y="1417320"/>
            <a:ext cx="1097280" cy="114300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-2-text"/>
          <p:cNvSpPr txBox="1"/>
          <p:nvPr/>
        </p:nvSpPr>
        <p:spPr>
          <a:xfrm>
            <a:off x="1709928" y="1527048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FD1"/>
                </a:solidFill>
                <a:latin typeface="Arial"/>
              </a:rPr>
              <a:t>2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Look up the target</a:t>
            </a:r>
          </a:p>
        </p:txBody>
      </p:sp>
      <p:sp>
        <p:nvSpPr>
          <p:cNvPr id="7" name="step-3"/>
          <p:cNvSpPr/>
          <p:nvPr/>
        </p:nvSpPr>
        <p:spPr>
          <a:xfrm>
            <a:off x="2825496" y="1417320"/>
            <a:ext cx="1097280" cy="1143000"/>
          </a:xfrm>
          <a:prstGeom prst="roundRect">
            <a:avLst>
              <a:gd name="adj" fmla="val 8000"/>
            </a:avLst>
          </a:prstGeom>
          <a:solidFill>
            <a:srgbClr val="1A1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ep-3-text"/>
          <p:cNvSpPr txBox="1"/>
          <p:nvPr/>
        </p:nvSpPr>
        <p:spPr>
          <a:xfrm>
            <a:off x="2916936" y="1527048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Check with the validator copy</a:t>
            </a:r>
          </a:p>
        </p:txBody>
      </p:sp>
      <p:sp>
        <p:nvSpPr>
          <p:cNvPr id="9" name="step-4"/>
          <p:cNvSpPr/>
          <p:nvPr/>
        </p:nvSpPr>
        <p:spPr>
          <a:xfrm>
            <a:off x="4032503" y="1417320"/>
            <a:ext cx="1097280" cy="114300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-4-text"/>
          <p:cNvSpPr txBox="1"/>
          <p:nvPr/>
        </p:nvSpPr>
        <p:spPr>
          <a:xfrm>
            <a:off x="4123943" y="1527048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FD1"/>
                </a:solidFill>
                <a:latin typeface="Arial"/>
              </a:rPr>
              <a:t>4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Ask when it matters</a:t>
            </a:r>
          </a:p>
        </p:txBody>
      </p:sp>
      <p:sp>
        <p:nvSpPr>
          <p:cNvPr id="11" name="step-5"/>
          <p:cNvSpPr/>
          <p:nvPr/>
        </p:nvSpPr>
        <p:spPr>
          <a:xfrm>
            <a:off x="5239512" y="1417320"/>
            <a:ext cx="1097280" cy="114300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-5-text"/>
          <p:cNvSpPr txBox="1"/>
          <p:nvPr/>
        </p:nvSpPr>
        <p:spPr>
          <a:xfrm>
            <a:off x="5330951" y="1527048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FD1"/>
                </a:solidFill>
                <a:latin typeface="Arial"/>
              </a:rPr>
              <a:t>5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Send the action</a:t>
            </a:r>
          </a:p>
        </p:txBody>
      </p:sp>
      <p:sp>
        <p:nvSpPr>
          <p:cNvPr id="13" name="step-6"/>
          <p:cNvSpPr/>
          <p:nvPr/>
        </p:nvSpPr>
        <p:spPr>
          <a:xfrm>
            <a:off x="6446520" y="1417320"/>
            <a:ext cx="1097280" cy="1143000"/>
          </a:xfrm>
          <a:prstGeom prst="roundRect">
            <a:avLst>
              <a:gd name="adj" fmla="val 8000"/>
            </a:avLst>
          </a:prstGeom>
          <a:solidFill>
            <a:srgbClr val="1A1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-6-text"/>
          <p:cNvSpPr txBox="1"/>
          <p:nvPr/>
        </p:nvSpPr>
        <p:spPr>
          <a:xfrm>
            <a:off x="6537959" y="1527048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Read the workspace back</a:t>
            </a:r>
          </a:p>
        </p:txBody>
      </p:sp>
      <p:sp>
        <p:nvSpPr>
          <p:cNvPr id="15" name="step-7"/>
          <p:cNvSpPr/>
          <p:nvPr/>
        </p:nvSpPr>
        <p:spPr>
          <a:xfrm>
            <a:off x="7653527" y="1417320"/>
            <a:ext cx="1097280" cy="114300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ep-7-text"/>
          <p:cNvSpPr txBox="1"/>
          <p:nvPr/>
        </p:nvSpPr>
        <p:spPr>
          <a:xfrm>
            <a:off x="7744967" y="1527048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FD1"/>
                </a:solidFill>
                <a:latin typeface="Arial"/>
              </a:rPr>
              <a:t>7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IDE validator, rollback if rejected</a:t>
            </a:r>
          </a:p>
        </p:txBody>
      </p:sp>
      <p:sp>
        <p:nvSpPr>
          <p:cNvPr id="17" name="how-left"/>
          <p:cNvSpPr txBox="1"/>
          <p:nvPr/>
        </p:nvSpPr>
        <p:spPr>
          <a:xfrm>
            <a:off x="411480" y="2834640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The model handles language. </a:t>
            </a:r>
            <a:r>
              <a:rPr sz="1200" b="0">
                <a:solidFill>
                  <a:srgbClr val="212121"/>
                </a:solidFill>
                <a:latin typeface="Arial"/>
              </a:rPr>
              <a:t>It extracts intent and parameters; a builder emits the full profile, so it never hand-writes 40 typed fields.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Every change goes through one gate. </a:t>
            </a:r>
            <a:r>
              <a:rPr sz="1200" b="0">
                <a:solidFill>
                  <a:srgbClr val="212121"/>
                </a:solidFill>
                <a:latin typeface="Arial"/>
              </a:rPr>
              <a:t>Whatever the model says, these steps run in this order.</a:t>
            </a:r>
          </a:p>
        </p:txBody>
      </p:sp>
      <p:sp>
        <p:nvSpPr>
          <p:cNvPr id="18" name="how-right"/>
          <p:cNvSpPr txBox="1"/>
          <p:nvPr/>
        </p:nvSpPr>
        <p:spPr>
          <a:xfrm>
            <a:off x="4709160" y="2834640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Answers are grounded. </a:t>
            </a:r>
            <a:r>
              <a:rPr sz="1200" b="0">
                <a:solidFill>
                  <a:srgbClr val="212121"/>
                </a:solidFill>
                <a:latin typeface="Arial"/>
              </a:rPr>
              <a:t>Retrieval over the official tutorial, cookbook and D3.3/D4.2/D4.3 deliverables, with citations.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Receipts. </a:t>
            </a:r>
            <a:r>
              <a:rPr sz="1200" b="0">
                <a:solidFill>
                  <a:srgbClr val="212121"/>
                </a:solidFill>
                <a:latin typeface="Arial"/>
              </a:rPr>
              <a:t>/receipts/&lt;user&gt;/view shows each lookup, action, read-back, validator and model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in the official IDE</a:t>
            </a:r>
          </a:p>
        </p:txBody>
      </p:sp>
      <p:pic>
        <p:nvPicPr>
          <p:cNvPr id="3" name="ide-screenshot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467149" cy="3246120"/>
          </a:xfrm>
          <a:prstGeom prst="rect">
            <a:avLst/>
          </a:prstGeom>
          <a:ln w="9525">
            <a:solidFill>
              <a:srgbClr val="D0D4E4"/>
            </a:solidFill>
          </a:ln>
        </p:spPr>
      </p:pic>
      <p:sp>
        <p:nvSpPr>
          <p:cNvPr id="4" name="demo-notes"/>
          <p:cNvSpPr txBox="1"/>
          <p:nvPr/>
        </p:nvSpPr>
        <p:spPr>
          <a:xfrm>
            <a:off x="6355080" y="1188720"/>
            <a:ext cx="24231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Off-topic: </a:t>
            </a:r>
            <a:r>
              <a:rPr sz="1200" b="0">
                <a:solidFill>
                  <a:srgbClr val="212121"/>
                </a:solidFill>
                <a:latin typeface="Arial"/>
              </a:rPr>
              <a:t>declined before any model call.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Check: </a:t>
            </a:r>
            <a:r>
              <a:rPr sz="1200" b="0">
                <a:solidFill>
                  <a:srgbClr val="212121"/>
                </a:solidFill>
                <a:latin typeface="Arial"/>
              </a:rPr>
              <a:t>the cookbook native example is valid but will not run (uvicorn in an nginx image).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Ambiguous name: </a:t>
            </a:r>
            <a:r>
              <a:rPr sz="1200" b="0">
                <a:solidFill>
                  <a:srgbClr val="212121"/>
                </a:solidFill>
                <a:latin typeface="Arial"/>
              </a:rPr>
              <a:t>lists both files and asks.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Create, fix, undo: </a:t>
            </a:r>
            <a:r>
              <a:rPr sz="1200" b="0">
                <a:solidFill>
                  <a:srgbClr val="212121"/>
                </a:solidFill>
                <a:latin typeface="Arial"/>
              </a:rPr>
              <a:t>each change is read back before Steward says it happened.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A6B"/>
                </a:solidFill>
                <a:latin typeface="Arial"/>
              </a:rPr>
              <a:t>Shown: </a:t>
            </a:r>
            <a:r>
              <a:rPr sz="1200" b="0">
                <a:solidFill>
                  <a:srgbClr val="595959"/>
                </a:solidFill>
                <a:latin typeface="Arial"/>
              </a:rPr>
              <a:t>the official create example, file opened in the editor. CI run with llama3.1 8B, 7/7.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five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88720"/>
          <a:ext cx="83210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926080"/>
                <a:gridCol w="237744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73152" marR="73152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Steward</a:t>
                      </a:r>
                    </a:p>
                  </a:txBody>
                  <a:tcPr marL="73152" marR="73152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Proof</a:t>
                      </a:r>
                    </a:p>
                  </a:txBody>
                  <a:tcPr marL="73152" marR="73152">
                    <a:solidFill>
                      <a:srgbClr val="1F2A6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6B"/>
                          </a:solidFill>
                          <a:latin typeface="Arial"/>
                        </a:rPr>
                        <a:t>1  /chat microservice: answers + NL to IDE actions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SSE contract of the starter; builder; read-back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CI: official images, browser-driven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6B"/>
                          </a:solidFill>
                          <a:latin typeface="Arial"/>
                        </a:rPr>
                        <a:t>2  Guardrails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Scope check before any model call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Tests; off-topic scenario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6B"/>
                          </a:solidFill>
                          <a:latin typeface="Arial"/>
                        </a:rPr>
                        <a:t>3  RAG on HYPER-AI docs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Official tutorial, cookbook, deliverables; cited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"What is HyperAI?" scenario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6B"/>
                          </a:solidFill>
                          <a:latin typeface="Arial"/>
                        </a:rPr>
                        <a:t>4  Session memory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Per user_id, sized to the 8k model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Tests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A6B"/>
                          </a:solidFill>
                          <a:latin typeface="Arial"/>
                        </a:rPr>
                        <a:t>5  Human-in-the-loop (optional)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Deletes always confirmed; overwrites unless path named or self-created; undo for file changes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12121"/>
                          </a:solidFill>
                          <a:latin typeface="Arial"/>
                        </a:rPr>
                        <a:t>Live slice: undo restores identical bytes</a:t>
                      </a:r>
                    </a:p>
                  </a:txBody>
                  <a:tcPr marL="73152" marR="73152">
                    <a:solidFill>
                      <a:srgbClr val="F1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proven, and what is not yet</a:t>
            </a:r>
          </a:p>
        </p:txBody>
      </p:sp>
      <p:sp>
        <p:nvSpPr>
          <p:cNvPr id="3" name="proven"/>
          <p:cNvSpPr/>
          <p:nvPr/>
        </p:nvSpPr>
        <p:spPr>
          <a:xfrm>
            <a:off x="411480" y="1188720"/>
            <a:ext cx="4023360" cy="265176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ven-text"/>
          <p:cNvSpPr txBox="1"/>
          <p:nvPr/>
        </p:nvSpPr>
        <p:spPr>
          <a:xfrm>
            <a:off x="594360" y="1325880"/>
            <a:ext cx="3657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7A4F"/>
                </a:solidFill>
                <a:latin typeface="Arial"/>
              </a:rPr>
              <a:t>Proven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Validator parity with the real code (CI, official image)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Create, 409 ambiguity, invalid profile stopped, delete, undo against the official backend image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The official GUI in a browser: guardrail, check, ambiguity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llama3.1 8B (the model family the organisers serve) in the official GUI, CI</a:t>
            </a:r>
          </a:p>
        </p:txBody>
      </p:sp>
      <p:sp>
        <p:nvSpPr>
          <p:cNvPr id="5" name="not-yet"/>
          <p:cNvSpPr/>
          <p:nvPr/>
        </p:nvSpPr>
        <p:spPr>
          <a:xfrm>
            <a:off x="4709160" y="1188720"/>
            <a:ext cx="4023360" cy="2651760"/>
          </a:xfrm>
          <a:prstGeom prst="roundRect">
            <a:avLst>
              <a:gd name="adj" fmla="val 8000"/>
            </a:avLst>
          </a:prstGeom>
          <a:solidFill>
            <a:srgbClr val="F1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t-yet-text"/>
          <p:cNvSpPr txBox="1"/>
          <p:nvPr/>
        </p:nvSpPr>
        <p:spPr>
          <a:xfrm>
            <a:off x="4892040" y="1325880"/>
            <a:ext cx="3657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3261E"/>
                </a:solidFill>
                <a:latin typeface="Arial"/>
              </a:rPr>
              <a:t>Not yet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Answer quality on the organisers' server (legion1) not measured before submission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Runnability findings are rules, not a deployment on HYPER-AI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Steward cannot deploy; the IDE's Deploy button does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Built during the hackathon by an autonomous agent; every claim is labelled in the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Anastasios Zafeiropoulos</dc:creator>
</cp:coreProperties>
</file>